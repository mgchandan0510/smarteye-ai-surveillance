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29"/>
  </p:notesMasterIdLst>
  <p:sldIdLst>
    <p:sldId id="256" r:id="rId2"/>
    <p:sldId id="258" r:id="rId3"/>
    <p:sldId id="273" r:id="rId4"/>
    <p:sldId id="260" r:id="rId5"/>
    <p:sldId id="271" r:id="rId6"/>
    <p:sldId id="281" r:id="rId7"/>
    <p:sldId id="282" r:id="rId8"/>
    <p:sldId id="261" r:id="rId9"/>
    <p:sldId id="283" r:id="rId10"/>
    <p:sldId id="268" r:id="rId11"/>
    <p:sldId id="274" r:id="rId12"/>
    <p:sldId id="284" r:id="rId13"/>
    <p:sldId id="286" r:id="rId14"/>
    <p:sldId id="285" r:id="rId15"/>
    <p:sldId id="287" r:id="rId16"/>
    <p:sldId id="288" r:id="rId17"/>
    <p:sldId id="290" r:id="rId18"/>
    <p:sldId id="292" r:id="rId19"/>
    <p:sldId id="291" r:id="rId20"/>
    <p:sldId id="294" r:id="rId21"/>
    <p:sldId id="279" r:id="rId22"/>
    <p:sldId id="275" r:id="rId23"/>
    <p:sldId id="276" r:id="rId24"/>
    <p:sldId id="277" r:id="rId25"/>
    <p:sldId id="266" r:id="rId26"/>
    <p:sldId id="289" r:id="rId27"/>
    <p:sldId id="267" r:id="rId28"/>
  </p:sldIdLst>
  <p:sldSz cx="9906000" cy="6858000" type="A4"/>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3132">
          <p15:clr>
            <a:srgbClr val="A4A3A4"/>
          </p15:clr>
        </p15:guide>
        <p15:guide id="2" pos="2130">
          <p15:clr>
            <a:srgbClr val="A4A3A4"/>
          </p15:clr>
        </p15:guide>
      </p15:notes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2" roundtripDataSignature="AMtx7miuxkUHzEEBQb45tIBOtUrgvatI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B3D1C26-BEBA-40EB-B880-04AE644533D2}">
  <a:tblStyle styleId="{9B3D1C26-BEBA-40EB-B880-04AE644533D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b="off" i="off"/>
      <a:tcStyle>
        <a:tcBdr/>
        <a:fill>
          <a:solidFill>
            <a:srgbClr val="CFD7E7"/>
          </a:solidFill>
        </a:fill>
      </a:tcStyle>
    </a:band1H>
    <a:band2H>
      <a:tcTxStyle b="off" i="off"/>
      <a:tcStyle>
        <a:tcBdr/>
      </a:tcStyle>
    </a:band2H>
    <a:band1V>
      <a:tcTxStyle b="off" i="off"/>
      <a:tcStyle>
        <a:tcBdr/>
        <a:fill>
          <a:solidFill>
            <a:srgbClr val="CFD7E7"/>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9F6D2E3C-A018-442B-BF50-C8C78C53ADB0}"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1277" y="72"/>
      </p:cViewPr>
      <p:guideLst>
        <p:guide orient="horz" pos="2160"/>
        <p:guide pos="3120"/>
      </p:guideLst>
    </p:cSldViewPr>
  </p:slideViewPr>
  <p:notesTextViewPr>
    <p:cViewPr>
      <p:scale>
        <a:sx n="100" d="100"/>
        <a:sy n="100" d="100"/>
      </p:scale>
      <p:origin x="0" y="0"/>
    </p:cViewPr>
  </p:notesTextViewPr>
  <p:notesViewPr>
    <p:cSldViewPr snapToGrid="0">
      <p:cViewPr varScale="1">
        <p:scale>
          <a:sx n="100" d="100"/>
          <a:sy n="100" d="100"/>
        </p:scale>
        <p:origin x="0" y="0"/>
      </p:cViewPr>
      <p:guideLst>
        <p:guide orient="horz" pos="3132"/>
        <p:guide pos="213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7126"/>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7126"/>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8975" y="746125"/>
            <a:ext cx="5383213"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7126"/>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712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 name="Google Shape;91;p1:notes"/>
          <p:cNvSpPr>
            <a:spLocks noGrp="1" noRot="1" noChangeAspect="1"/>
          </p:cNvSpPr>
          <p:nvPr>
            <p:ph type="sldImg" idx="2"/>
          </p:nvPr>
        </p:nvSpPr>
        <p:spPr>
          <a:xfrm>
            <a:off x="688975" y="746125"/>
            <a:ext cx="5383213"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3:notes"/>
          <p:cNvSpPr>
            <a:spLocks noGrp="1" noRot="1" noChangeAspect="1"/>
          </p:cNvSpPr>
          <p:nvPr>
            <p:ph type="sldImg" idx="2"/>
          </p:nvPr>
        </p:nvSpPr>
        <p:spPr>
          <a:xfrm>
            <a:off x="688975" y="746125"/>
            <a:ext cx="5383213"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5:notes"/>
          <p:cNvSpPr>
            <a:spLocks noGrp="1" noRot="1" noChangeAspect="1"/>
          </p:cNvSpPr>
          <p:nvPr>
            <p:ph type="sldImg" idx="2"/>
          </p:nvPr>
        </p:nvSpPr>
        <p:spPr>
          <a:xfrm>
            <a:off x="688975" y="746125"/>
            <a:ext cx="5383213"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 name="Google Shape;123;p6:notes"/>
          <p:cNvSpPr>
            <a:spLocks noGrp="1" noRot="1" noChangeAspect="1"/>
          </p:cNvSpPr>
          <p:nvPr>
            <p:ph type="sldImg" idx="2"/>
          </p:nvPr>
        </p:nvSpPr>
        <p:spPr>
          <a:xfrm>
            <a:off x="688975" y="746125"/>
            <a:ext cx="5383213"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 name="Google Shape;123;p6:notes"/>
          <p:cNvSpPr>
            <a:spLocks noGrp="1" noRot="1" noChangeAspect="1"/>
          </p:cNvSpPr>
          <p:nvPr>
            <p:ph type="sldImg" idx="2"/>
          </p:nvPr>
        </p:nvSpPr>
        <p:spPr>
          <a:xfrm>
            <a:off x="688975" y="746125"/>
            <a:ext cx="5383213"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66957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1: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11:notes"/>
          <p:cNvSpPr>
            <a:spLocks noGrp="1" noRot="1" noChangeAspect="1"/>
          </p:cNvSpPr>
          <p:nvPr>
            <p:ph type="sldImg" idx="2"/>
          </p:nvPr>
        </p:nvSpPr>
        <p:spPr>
          <a:xfrm>
            <a:off x="688975" y="746125"/>
            <a:ext cx="5383213"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454605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1: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11:notes"/>
          <p:cNvSpPr>
            <a:spLocks noGrp="1" noRot="1" noChangeAspect="1"/>
          </p:cNvSpPr>
          <p:nvPr>
            <p:ph type="sldImg" idx="2"/>
          </p:nvPr>
        </p:nvSpPr>
        <p:spPr>
          <a:xfrm>
            <a:off x="688975" y="746125"/>
            <a:ext cx="5383213"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7576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1: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11:notes"/>
          <p:cNvSpPr>
            <a:spLocks noGrp="1" noRot="1" noChangeAspect="1"/>
          </p:cNvSpPr>
          <p:nvPr>
            <p:ph type="sldImg" idx="2"/>
          </p:nvPr>
        </p:nvSpPr>
        <p:spPr>
          <a:xfrm>
            <a:off x="688975" y="746125"/>
            <a:ext cx="5383213"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321588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1: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11:notes"/>
          <p:cNvSpPr>
            <a:spLocks noGrp="1" noRot="1" noChangeAspect="1"/>
          </p:cNvSpPr>
          <p:nvPr>
            <p:ph type="sldImg" idx="2"/>
          </p:nvPr>
        </p:nvSpPr>
        <p:spPr>
          <a:xfrm>
            <a:off x="688975" y="746125"/>
            <a:ext cx="5383213"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659942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4: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14:notes"/>
          <p:cNvSpPr>
            <a:spLocks noGrp="1" noRot="1" noChangeAspect="1"/>
          </p:cNvSpPr>
          <p:nvPr>
            <p:ph type="sldImg" idx="2"/>
          </p:nvPr>
        </p:nvSpPr>
        <p:spPr>
          <a:xfrm>
            <a:off x="688975" y="746125"/>
            <a:ext cx="5383213"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4: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14:notes"/>
          <p:cNvSpPr>
            <a:spLocks noGrp="1" noRot="1" noChangeAspect="1"/>
          </p:cNvSpPr>
          <p:nvPr>
            <p:ph type="sldImg" idx="2"/>
          </p:nvPr>
        </p:nvSpPr>
        <p:spPr>
          <a:xfrm>
            <a:off x="688975" y="746125"/>
            <a:ext cx="5383213"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00649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5: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15:notes"/>
          <p:cNvSpPr>
            <a:spLocks noGrp="1" noRot="1" noChangeAspect="1"/>
          </p:cNvSpPr>
          <p:nvPr>
            <p:ph type="sldImg" idx="2"/>
          </p:nvPr>
        </p:nvSpPr>
        <p:spPr>
          <a:xfrm>
            <a:off x="688975" y="746125"/>
            <a:ext cx="5383213"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D2DF1-B80F-4899-9C07-2702D72EA5A3}"/>
              </a:ext>
            </a:extLst>
          </p:cNvPr>
          <p:cNvSpPr>
            <a:spLocks noGrp="1"/>
          </p:cNvSpPr>
          <p:nvPr>
            <p:ph type="ctrTitle"/>
          </p:nvPr>
        </p:nvSpPr>
        <p:spPr>
          <a:xfrm>
            <a:off x="1238250" y="1122363"/>
            <a:ext cx="7429500" cy="2387600"/>
          </a:xfrm>
        </p:spPr>
        <p:txBody>
          <a:bodyPr anchor="b"/>
          <a:lstStyle>
            <a:lvl1pPr algn="ctr">
              <a:defRPr sz="4875"/>
            </a:lvl1pPr>
          </a:lstStyle>
          <a:p>
            <a:r>
              <a:rPr lang="en-US"/>
              <a:t>Click to edit Master title style</a:t>
            </a:r>
            <a:endParaRPr lang="en-IN"/>
          </a:p>
        </p:txBody>
      </p:sp>
      <p:sp>
        <p:nvSpPr>
          <p:cNvPr id="3" name="Subtitle 2">
            <a:extLst>
              <a:ext uri="{FF2B5EF4-FFF2-40B4-BE49-F238E27FC236}">
                <a16:creationId xmlns:a16="http://schemas.microsoft.com/office/drawing/2014/main" id="{99F86976-5A94-42E0-9287-ABCF94378E05}"/>
              </a:ext>
            </a:extLst>
          </p:cNvPr>
          <p:cNvSpPr>
            <a:spLocks noGrp="1"/>
          </p:cNvSpPr>
          <p:nvPr>
            <p:ph type="subTitle" idx="1"/>
          </p:nvPr>
        </p:nvSpPr>
        <p:spPr>
          <a:xfrm>
            <a:off x="1238250" y="3602038"/>
            <a:ext cx="7429500" cy="1655762"/>
          </a:xfrm>
        </p:spPr>
        <p:txBody>
          <a:bodyPr/>
          <a:lstStyle>
            <a:lvl1pPr marL="0" indent="0" algn="ctr">
              <a:buNone/>
              <a:defRPr sz="195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DBD4F78-8271-4510-AC01-304B93406B3F}"/>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8D22B4B7-D4D1-4539-B00E-35DBDB28DA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F81E56-C496-4704-ACA0-486B4BEEA58C}"/>
              </a:ext>
            </a:extLst>
          </p:cNvPr>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a:t>
            </a:fld>
            <a:endParaRPr lang="en-US"/>
          </a:p>
        </p:txBody>
      </p:sp>
    </p:spTree>
    <p:extLst>
      <p:ext uri="{BB962C8B-B14F-4D97-AF65-F5344CB8AC3E}">
        <p14:creationId xmlns:p14="http://schemas.microsoft.com/office/powerpoint/2010/main" val="3104837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25CB5-F0A2-4182-8DE0-3E7D726BDC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B908E2-C2BC-471E-A466-95F9C7FAF2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E0318B-E6FF-4868-816B-38205A625FA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69BC6924-CEEC-4E55-ADCD-880BBA22B6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E26C98-5DD0-4AFD-8E92-6D475899BEF6}"/>
              </a:ext>
            </a:extLst>
          </p:cNvPr>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a:t>
            </a:fld>
            <a:endParaRPr lang="en-US"/>
          </a:p>
        </p:txBody>
      </p:sp>
    </p:spTree>
    <p:extLst>
      <p:ext uri="{BB962C8B-B14F-4D97-AF65-F5344CB8AC3E}">
        <p14:creationId xmlns:p14="http://schemas.microsoft.com/office/powerpoint/2010/main" val="1667580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AE86B-3B80-4C36-87C5-88FCF120A2A9}"/>
              </a:ext>
            </a:extLst>
          </p:cNvPr>
          <p:cNvSpPr>
            <a:spLocks noGrp="1"/>
          </p:cNvSpPr>
          <p:nvPr>
            <p:ph type="title"/>
          </p:nvPr>
        </p:nvSpPr>
        <p:spPr>
          <a:xfrm>
            <a:off x="675878" y="1709739"/>
            <a:ext cx="8543925" cy="2852737"/>
          </a:xfrm>
        </p:spPr>
        <p:txBody>
          <a:bodyPr anchor="b"/>
          <a:lstStyle>
            <a:lvl1pPr>
              <a:defRPr sz="4875"/>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A2EA258-54F2-4E96-A145-075195802C35}"/>
              </a:ext>
            </a:extLst>
          </p:cNvPr>
          <p:cNvSpPr>
            <a:spLocks noGrp="1"/>
          </p:cNvSpPr>
          <p:nvPr>
            <p:ph type="body" idx="1"/>
          </p:nvPr>
        </p:nvSpPr>
        <p:spPr>
          <a:xfrm>
            <a:off x="675878" y="4589464"/>
            <a:ext cx="8543925" cy="1500187"/>
          </a:xfrm>
        </p:spPr>
        <p:txBody>
          <a:bodyPr/>
          <a:lstStyle>
            <a:lvl1pPr marL="0" indent="0">
              <a:buNone/>
              <a:defRPr sz="1950">
                <a:solidFill>
                  <a:schemeClr val="tx1">
                    <a:tint val="75000"/>
                  </a:schemeClr>
                </a:solidFill>
              </a:defRPr>
            </a:lvl1pPr>
            <a:lvl2pPr marL="371475" indent="0">
              <a:buNone/>
              <a:defRPr sz="1625">
                <a:solidFill>
                  <a:schemeClr val="tx1">
                    <a:tint val="75000"/>
                  </a:schemeClr>
                </a:solidFill>
              </a:defRPr>
            </a:lvl2pPr>
            <a:lvl3pPr marL="742950" indent="0">
              <a:buNone/>
              <a:defRPr sz="1463">
                <a:solidFill>
                  <a:schemeClr val="tx1">
                    <a:tint val="75000"/>
                  </a:schemeClr>
                </a:solidFill>
              </a:defRPr>
            </a:lvl3pPr>
            <a:lvl4pPr marL="1114425" indent="0">
              <a:buNone/>
              <a:defRPr sz="1300">
                <a:solidFill>
                  <a:schemeClr val="tx1">
                    <a:tint val="75000"/>
                  </a:schemeClr>
                </a:solidFill>
              </a:defRPr>
            </a:lvl4pPr>
            <a:lvl5pPr marL="1485900" indent="0">
              <a:buNone/>
              <a:defRPr sz="1300">
                <a:solidFill>
                  <a:schemeClr val="tx1">
                    <a:tint val="75000"/>
                  </a:schemeClr>
                </a:solidFill>
              </a:defRPr>
            </a:lvl5pPr>
            <a:lvl6pPr marL="1857375" indent="0">
              <a:buNone/>
              <a:defRPr sz="1300">
                <a:solidFill>
                  <a:schemeClr val="tx1">
                    <a:tint val="75000"/>
                  </a:schemeClr>
                </a:solidFill>
              </a:defRPr>
            </a:lvl6pPr>
            <a:lvl7pPr marL="2228850" indent="0">
              <a:buNone/>
              <a:defRPr sz="1300">
                <a:solidFill>
                  <a:schemeClr val="tx1">
                    <a:tint val="75000"/>
                  </a:schemeClr>
                </a:solidFill>
              </a:defRPr>
            </a:lvl7pPr>
            <a:lvl8pPr marL="2600325" indent="0">
              <a:buNone/>
              <a:defRPr sz="1300">
                <a:solidFill>
                  <a:schemeClr val="tx1">
                    <a:tint val="75000"/>
                  </a:schemeClr>
                </a:solidFill>
              </a:defRPr>
            </a:lvl8pPr>
            <a:lvl9pPr marL="2971800" indent="0">
              <a:buNone/>
              <a:defRPr sz="13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B53A85-D6AB-4A62-98FD-CFCB234C793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8DC31FA4-6F4E-49EE-B22A-6C4FBA188C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0D7AF5-7CC9-48A9-9490-7E5D64DECB1A}"/>
              </a:ext>
            </a:extLst>
          </p:cNvPr>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a:t>
            </a:fld>
            <a:endParaRPr lang="en-US"/>
          </a:p>
        </p:txBody>
      </p:sp>
    </p:spTree>
    <p:extLst>
      <p:ext uri="{BB962C8B-B14F-4D97-AF65-F5344CB8AC3E}">
        <p14:creationId xmlns:p14="http://schemas.microsoft.com/office/powerpoint/2010/main" val="2602324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CB560-ABFC-4C4F-B890-8C8C78B06F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4FE4C7-B0FF-4CA3-B63A-26EE98369262}"/>
              </a:ext>
            </a:extLst>
          </p:cNvPr>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BF2C7FA-3B85-4354-8D95-E3D321DFF554}"/>
              </a:ext>
            </a:extLst>
          </p:cNvPr>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FAFFF3C-E486-4202-AFB4-6F060040CDA3}"/>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67AFAC39-5529-4CBC-BD5C-544F009C52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95583B-F573-4E8A-A9EA-00884FE3089C}"/>
              </a:ext>
            </a:extLst>
          </p:cNvPr>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a:t>
            </a:fld>
            <a:endParaRPr lang="en-US"/>
          </a:p>
        </p:txBody>
      </p:sp>
    </p:spTree>
    <p:extLst>
      <p:ext uri="{BB962C8B-B14F-4D97-AF65-F5344CB8AC3E}">
        <p14:creationId xmlns:p14="http://schemas.microsoft.com/office/powerpoint/2010/main" val="730954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E36C4-F382-4A2B-9226-EDBE58AE737E}"/>
              </a:ext>
            </a:extLst>
          </p:cNvPr>
          <p:cNvSpPr>
            <a:spLocks noGrp="1"/>
          </p:cNvSpPr>
          <p:nvPr>
            <p:ph type="title"/>
          </p:nvPr>
        </p:nvSpPr>
        <p:spPr>
          <a:xfrm>
            <a:off x="682328" y="365126"/>
            <a:ext cx="8543925"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1F7BA9-EE53-421D-87F9-A26D62E1A81A}"/>
              </a:ext>
            </a:extLst>
          </p:cNvPr>
          <p:cNvSpPr>
            <a:spLocks noGrp="1"/>
          </p:cNvSpPr>
          <p:nvPr>
            <p:ph type="body" idx="1"/>
          </p:nvPr>
        </p:nvSpPr>
        <p:spPr>
          <a:xfrm>
            <a:off x="682328" y="1681163"/>
            <a:ext cx="4190702"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en-US"/>
              <a:t>Click to edit Master text styles</a:t>
            </a:r>
          </a:p>
        </p:txBody>
      </p:sp>
      <p:sp>
        <p:nvSpPr>
          <p:cNvPr id="4" name="Content Placeholder 3">
            <a:extLst>
              <a:ext uri="{FF2B5EF4-FFF2-40B4-BE49-F238E27FC236}">
                <a16:creationId xmlns:a16="http://schemas.microsoft.com/office/drawing/2014/main" id="{FA3DD70C-2A7C-4D47-96D3-D674E4BB9E39}"/>
              </a:ext>
            </a:extLst>
          </p:cNvPr>
          <p:cNvSpPr>
            <a:spLocks noGrp="1"/>
          </p:cNvSpPr>
          <p:nvPr>
            <p:ph sz="half" idx="2"/>
          </p:nvPr>
        </p:nvSpPr>
        <p:spPr>
          <a:xfrm>
            <a:off x="682328"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174C30A-152E-44EA-AC1E-5FCBD25BE69F}"/>
              </a:ext>
            </a:extLst>
          </p:cNvPr>
          <p:cNvSpPr>
            <a:spLocks noGrp="1"/>
          </p:cNvSpPr>
          <p:nvPr>
            <p:ph type="body" sz="quarter" idx="3"/>
          </p:nvPr>
        </p:nvSpPr>
        <p:spPr>
          <a:xfrm>
            <a:off x="5014913" y="1681163"/>
            <a:ext cx="4211340"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en-US"/>
              <a:t>Click to edit Master text styles</a:t>
            </a:r>
          </a:p>
        </p:txBody>
      </p:sp>
      <p:sp>
        <p:nvSpPr>
          <p:cNvPr id="6" name="Content Placeholder 5">
            <a:extLst>
              <a:ext uri="{FF2B5EF4-FFF2-40B4-BE49-F238E27FC236}">
                <a16:creationId xmlns:a16="http://schemas.microsoft.com/office/drawing/2014/main" id="{424DAEAB-1826-4F5B-BD67-5625837E2C97}"/>
              </a:ext>
            </a:extLst>
          </p:cNvPr>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0CC0EDB-48AA-4106-AEEB-61BE57AF1B0F}"/>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198E39C3-B50E-402B-8FE3-AD458F66234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905CD4F-6795-46EA-A61B-B46F1C13730B}"/>
              </a:ext>
            </a:extLst>
          </p:cNvPr>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a:t>
            </a:fld>
            <a:endParaRPr lang="en-US"/>
          </a:p>
        </p:txBody>
      </p:sp>
    </p:spTree>
    <p:extLst>
      <p:ext uri="{BB962C8B-B14F-4D97-AF65-F5344CB8AC3E}">
        <p14:creationId xmlns:p14="http://schemas.microsoft.com/office/powerpoint/2010/main" val="865489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82FF2-621E-46AC-BE26-85A3C604543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F145977-1CDF-4591-9164-0CE2E7CBF3EC}"/>
              </a:ext>
            </a:extLst>
          </p:cNvPr>
          <p:cNvSpPr>
            <a:spLocks noGrp="1"/>
          </p:cNvSpPr>
          <p:nvPr>
            <p:ph type="dt" sz="half" idx="10"/>
          </p:nvPr>
        </p:nvSpPr>
        <p:spPr/>
        <p:txBody>
          <a:bodyPr/>
          <a:lstStyle/>
          <a:p>
            <a:fld id="{86C0E0E8-D7B8-4E6B-AE2D-70AF62476BA4}" type="datetimeFigureOut">
              <a:rPr lang="en-IN" smtClean="0"/>
              <a:t>16-03-2026</a:t>
            </a:fld>
            <a:endParaRPr lang="en-IN"/>
          </a:p>
        </p:txBody>
      </p:sp>
      <p:sp>
        <p:nvSpPr>
          <p:cNvPr id="4" name="Footer Placeholder 3">
            <a:extLst>
              <a:ext uri="{FF2B5EF4-FFF2-40B4-BE49-F238E27FC236}">
                <a16:creationId xmlns:a16="http://schemas.microsoft.com/office/drawing/2014/main" id="{C2E73726-A25E-4E34-B3AF-8BEB10C1ED9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47ECF50-4649-45C6-8259-94A37D1D9100}"/>
              </a:ext>
            </a:extLst>
          </p:cNvPr>
          <p:cNvSpPr>
            <a:spLocks noGrp="1"/>
          </p:cNvSpPr>
          <p:nvPr>
            <p:ph type="sldNum" sz="quarter" idx="12"/>
          </p:nvPr>
        </p:nvSpPr>
        <p:spPr/>
        <p:txBody>
          <a:bodyPr/>
          <a:lstStyle/>
          <a:p>
            <a:fld id="{EE6FD835-7DB8-49A7-AE08-5CAE8D7D5559}" type="slidenum">
              <a:rPr lang="en-IN" smtClean="0"/>
              <a:t>‹#›</a:t>
            </a:fld>
            <a:endParaRPr lang="en-IN"/>
          </a:p>
        </p:txBody>
      </p:sp>
    </p:spTree>
    <p:extLst>
      <p:ext uri="{BB962C8B-B14F-4D97-AF65-F5344CB8AC3E}">
        <p14:creationId xmlns:p14="http://schemas.microsoft.com/office/powerpoint/2010/main" val="105961873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12AC22-5D9C-4400-A515-F475C1BA2C44}"/>
              </a:ext>
            </a:extLst>
          </p:cNvPr>
          <p:cNvSpPr>
            <a:spLocks noGrp="1"/>
          </p:cNvSpPr>
          <p:nvPr>
            <p:ph type="dt" sz="half" idx="10"/>
          </p:nvPr>
        </p:nvSpPr>
        <p:spPr/>
        <p:txBody>
          <a:bodyPr/>
          <a:lstStyle/>
          <a:p>
            <a:fld id="{86C0E0E8-D7B8-4E6B-AE2D-70AF62476BA4}" type="datetimeFigureOut">
              <a:rPr lang="en-IN" smtClean="0"/>
              <a:t>16-03-2026</a:t>
            </a:fld>
            <a:endParaRPr lang="en-IN"/>
          </a:p>
        </p:txBody>
      </p:sp>
      <p:sp>
        <p:nvSpPr>
          <p:cNvPr id="3" name="Footer Placeholder 2">
            <a:extLst>
              <a:ext uri="{FF2B5EF4-FFF2-40B4-BE49-F238E27FC236}">
                <a16:creationId xmlns:a16="http://schemas.microsoft.com/office/drawing/2014/main" id="{439A1E37-7DCC-4CBD-A0D6-CA15B4C9B60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13668A6-65AF-47DF-9AB9-E54ACF41BFEC}"/>
              </a:ext>
            </a:extLst>
          </p:cNvPr>
          <p:cNvSpPr>
            <a:spLocks noGrp="1"/>
          </p:cNvSpPr>
          <p:nvPr>
            <p:ph type="sldNum" sz="quarter" idx="12"/>
          </p:nvPr>
        </p:nvSpPr>
        <p:spPr/>
        <p:txBody>
          <a:bodyPr/>
          <a:lstStyle/>
          <a:p>
            <a:fld id="{EE6FD835-7DB8-49A7-AE08-5CAE8D7D5559}" type="slidenum">
              <a:rPr lang="en-IN" smtClean="0"/>
              <a:t>‹#›</a:t>
            </a:fld>
            <a:endParaRPr lang="en-IN"/>
          </a:p>
        </p:txBody>
      </p:sp>
    </p:spTree>
    <p:extLst>
      <p:ext uri="{BB962C8B-B14F-4D97-AF65-F5344CB8AC3E}">
        <p14:creationId xmlns:p14="http://schemas.microsoft.com/office/powerpoint/2010/main" val="2462485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532DC-3981-4573-968B-FC8AEAA222FC}"/>
              </a:ext>
            </a:extLst>
          </p:cNvPr>
          <p:cNvSpPr>
            <a:spLocks noGrp="1"/>
          </p:cNvSpPr>
          <p:nvPr>
            <p:ph type="title"/>
          </p:nvPr>
        </p:nvSpPr>
        <p:spPr>
          <a:xfrm>
            <a:off x="682328" y="457200"/>
            <a:ext cx="3194943" cy="1600200"/>
          </a:xfrm>
        </p:spPr>
        <p:txBody>
          <a:bodyPr anchor="b"/>
          <a:lstStyle>
            <a:lvl1pPr>
              <a:defRPr sz="26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7598348-707E-4AC5-B36A-58EB6FDD3F1D}"/>
              </a:ext>
            </a:extLst>
          </p:cNvPr>
          <p:cNvSpPr>
            <a:spLocks noGrp="1"/>
          </p:cNvSpPr>
          <p:nvPr>
            <p:ph idx="1"/>
          </p:nvPr>
        </p:nvSpPr>
        <p:spPr>
          <a:xfrm>
            <a:off x="4211340" y="987426"/>
            <a:ext cx="5014913" cy="4873625"/>
          </a:xfrm>
        </p:spPr>
        <p:txBody>
          <a:bodyPr/>
          <a:lstStyle>
            <a:lvl1pPr>
              <a:defRPr sz="2600"/>
            </a:lvl1pPr>
            <a:lvl2pPr>
              <a:defRPr sz="2275"/>
            </a:lvl2pPr>
            <a:lvl3pPr>
              <a:defRPr sz="1950"/>
            </a:lvl3pPr>
            <a:lvl4pPr>
              <a:defRPr sz="1625"/>
            </a:lvl4pPr>
            <a:lvl5pPr>
              <a:defRPr sz="1625"/>
            </a:lvl5pPr>
            <a:lvl6pPr>
              <a:defRPr sz="1625"/>
            </a:lvl6pPr>
            <a:lvl7pPr>
              <a:defRPr sz="1625"/>
            </a:lvl7pPr>
            <a:lvl8pPr>
              <a:defRPr sz="1625"/>
            </a:lvl8pPr>
            <a:lvl9pPr>
              <a:defRPr sz="16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FC70FC6-ED38-45CF-BA23-60AEB0016253}"/>
              </a:ext>
            </a:extLst>
          </p:cNvPr>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en-US"/>
              <a:t>Click to edit Master text styles</a:t>
            </a:r>
          </a:p>
        </p:txBody>
      </p:sp>
      <p:sp>
        <p:nvSpPr>
          <p:cNvPr id="5" name="Date Placeholder 4">
            <a:extLst>
              <a:ext uri="{FF2B5EF4-FFF2-40B4-BE49-F238E27FC236}">
                <a16:creationId xmlns:a16="http://schemas.microsoft.com/office/drawing/2014/main" id="{0F6714A7-FE06-4431-89F6-CB7A0FF14EFC}"/>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7D412491-FBD3-45C1-B7A3-1E5D65EF51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E10A4C-F19C-4F8A-86FA-A7FF1A1AABB6}"/>
              </a:ext>
            </a:extLst>
          </p:cNvPr>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a:t>
            </a:fld>
            <a:endParaRPr lang="en-US"/>
          </a:p>
        </p:txBody>
      </p:sp>
    </p:spTree>
    <p:extLst>
      <p:ext uri="{BB962C8B-B14F-4D97-AF65-F5344CB8AC3E}">
        <p14:creationId xmlns:p14="http://schemas.microsoft.com/office/powerpoint/2010/main" val="965432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BF3BB-5C12-4E81-88DA-F6652B61846E}"/>
              </a:ext>
            </a:extLst>
          </p:cNvPr>
          <p:cNvSpPr>
            <a:spLocks noGrp="1"/>
          </p:cNvSpPr>
          <p:nvPr>
            <p:ph type="title"/>
          </p:nvPr>
        </p:nvSpPr>
        <p:spPr>
          <a:xfrm>
            <a:off x="682328" y="457200"/>
            <a:ext cx="3194943" cy="1600200"/>
          </a:xfrm>
        </p:spPr>
        <p:txBody>
          <a:bodyPr anchor="b"/>
          <a:lstStyle>
            <a:lvl1pPr>
              <a:defRPr sz="26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E50E4B4-59AC-4AB9-8542-EC6209B81C95}"/>
              </a:ext>
            </a:extLst>
          </p:cNvPr>
          <p:cNvSpPr>
            <a:spLocks noGrp="1"/>
          </p:cNvSpPr>
          <p:nvPr>
            <p:ph type="pic" idx="1"/>
          </p:nvPr>
        </p:nvSpPr>
        <p:spPr>
          <a:xfrm>
            <a:off x="4211340" y="987426"/>
            <a:ext cx="5014913" cy="4873625"/>
          </a:xfrm>
        </p:spPr>
        <p:txBody>
          <a:bodyPr/>
          <a:lstStyle>
            <a:lvl1pPr marL="0" indent="0">
              <a:buNone/>
              <a:defRPr sz="2600"/>
            </a:lvl1pPr>
            <a:lvl2pPr marL="371475" indent="0">
              <a:buNone/>
              <a:defRPr sz="2275"/>
            </a:lvl2pPr>
            <a:lvl3pPr marL="742950" indent="0">
              <a:buNone/>
              <a:defRPr sz="1950"/>
            </a:lvl3pPr>
            <a:lvl4pPr marL="1114425" indent="0">
              <a:buNone/>
              <a:defRPr sz="1625"/>
            </a:lvl4pPr>
            <a:lvl5pPr marL="1485900" indent="0">
              <a:buNone/>
              <a:defRPr sz="1625"/>
            </a:lvl5pPr>
            <a:lvl6pPr marL="1857375" indent="0">
              <a:buNone/>
              <a:defRPr sz="1625"/>
            </a:lvl6pPr>
            <a:lvl7pPr marL="2228850" indent="0">
              <a:buNone/>
              <a:defRPr sz="1625"/>
            </a:lvl7pPr>
            <a:lvl8pPr marL="2600325" indent="0">
              <a:buNone/>
              <a:defRPr sz="1625"/>
            </a:lvl8pPr>
            <a:lvl9pPr marL="2971800" indent="0">
              <a:buNone/>
              <a:defRPr sz="1625"/>
            </a:lvl9pPr>
          </a:lstStyle>
          <a:p>
            <a:endParaRPr lang="en-IN"/>
          </a:p>
        </p:txBody>
      </p:sp>
      <p:sp>
        <p:nvSpPr>
          <p:cNvPr id="4" name="Text Placeholder 3">
            <a:extLst>
              <a:ext uri="{FF2B5EF4-FFF2-40B4-BE49-F238E27FC236}">
                <a16:creationId xmlns:a16="http://schemas.microsoft.com/office/drawing/2014/main" id="{B9957A73-6F9A-4FC0-B3EA-E860309EAC3B}"/>
              </a:ext>
            </a:extLst>
          </p:cNvPr>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en-US"/>
              <a:t>Click to edit Master text styles</a:t>
            </a:r>
          </a:p>
        </p:txBody>
      </p:sp>
      <p:sp>
        <p:nvSpPr>
          <p:cNvPr id="5" name="Date Placeholder 4">
            <a:extLst>
              <a:ext uri="{FF2B5EF4-FFF2-40B4-BE49-F238E27FC236}">
                <a16:creationId xmlns:a16="http://schemas.microsoft.com/office/drawing/2014/main" id="{5784BC74-AF2B-43DA-9A96-2B81DB3E285D}"/>
              </a:ext>
            </a:extLst>
          </p:cNvPr>
          <p:cNvSpPr>
            <a:spLocks noGrp="1"/>
          </p:cNvSpPr>
          <p:nvPr>
            <p:ph type="dt" sz="half" idx="10"/>
          </p:nvPr>
        </p:nvSpPr>
        <p:spPr/>
        <p:txBody>
          <a:bodyPr/>
          <a:lstStyle/>
          <a:p>
            <a:fld id="{86C0E0E8-D7B8-4E6B-AE2D-70AF62476BA4}" type="datetimeFigureOut">
              <a:rPr lang="en-IN" smtClean="0"/>
              <a:t>16-03-2026</a:t>
            </a:fld>
            <a:endParaRPr lang="en-IN"/>
          </a:p>
        </p:txBody>
      </p:sp>
      <p:sp>
        <p:nvSpPr>
          <p:cNvPr id="6" name="Footer Placeholder 5">
            <a:extLst>
              <a:ext uri="{FF2B5EF4-FFF2-40B4-BE49-F238E27FC236}">
                <a16:creationId xmlns:a16="http://schemas.microsoft.com/office/drawing/2014/main" id="{378473A9-AB79-4424-87E5-2FF56056A7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2529D7-E62F-4DB2-8D78-281D069199BC}"/>
              </a:ext>
            </a:extLst>
          </p:cNvPr>
          <p:cNvSpPr>
            <a:spLocks noGrp="1"/>
          </p:cNvSpPr>
          <p:nvPr>
            <p:ph type="sldNum" sz="quarter" idx="12"/>
          </p:nvPr>
        </p:nvSpPr>
        <p:spPr/>
        <p:txBody>
          <a:bodyPr/>
          <a:lstStyle/>
          <a:p>
            <a:fld id="{EE6FD835-7DB8-49A7-AE08-5CAE8D7D5559}" type="slidenum">
              <a:rPr lang="en-IN" smtClean="0"/>
              <a:t>‹#›</a:t>
            </a:fld>
            <a:endParaRPr lang="en-IN"/>
          </a:p>
        </p:txBody>
      </p:sp>
    </p:spTree>
    <p:extLst>
      <p:ext uri="{BB962C8B-B14F-4D97-AF65-F5344CB8AC3E}">
        <p14:creationId xmlns:p14="http://schemas.microsoft.com/office/powerpoint/2010/main" val="77824783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13AC8-C5C5-417E-83A1-63F33E112AF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2AD563-E391-4A0B-AE92-317CFA38B8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5BB006-037C-4B7D-B8CE-FB6A1CCBC9E2}"/>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5F7740C9-C215-48CB-90A9-E7C3A40F58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AE4BBD-3019-4663-9BBA-90D0003282B1}"/>
              </a:ext>
            </a:extLst>
          </p:cNvPr>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a:t>
            </a:fld>
            <a:endParaRPr lang="en-US"/>
          </a:p>
        </p:txBody>
      </p:sp>
    </p:spTree>
    <p:extLst>
      <p:ext uri="{BB962C8B-B14F-4D97-AF65-F5344CB8AC3E}">
        <p14:creationId xmlns:p14="http://schemas.microsoft.com/office/powerpoint/2010/main" val="2776540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257BE0-92C5-4A3D-8627-7754D622F8BD}"/>
              </a:ext>
            </a:extLst>
          </p:cNvPr>
          <p:cNvSpPr>
            <a:spLocks noGrp="1"/>
          </p:cNvSpPr>
          <p:nvPr>
            <p:ph type="title" orient="vert"/>
          </p:nvPr>
        </p:nvSpPr>
        <p:spPr>
          <a:xfrm>
            <a:off x="7088981" y="365125"/>
            <a:ext cx="2135981"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23E241-C788-4CFD-BB4B-EEDD1B6443EC}"/>
              </a:ext>
            </a:extLst>
          </p:cNvPr>
          <p:cNvSpPr>
            <a:spLocks noGrp="1"/>
          </p:cNvSpPr>
          <p:nvPr>
            <p:ph type="body" orient="vert" idx="1"/>
          </p:nvPr>
        </p:nvSpPr>
        <p:spPr>
          <a:xfrm>
            <a:off x="681037"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B863E0-C139-4501-BA6B-DCD6F71687A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D3FB608-9A86-4D80-87D6-A570892149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8B0E20-629B-401B-8087-84BBF3D91DF4}"/>
              </a:ext>
            </a:extLst>
          </p:cNvPr>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a:t>
            </a:fld>
            <a:endParaRPr lang="en-US"/>
          </a:p>
        </p:txBody>
      </p:sp>
    </p:spTree>
    <p:extLst>
      <p:ext uri="{BB962C8B-B14F-4D97-AF65-F5344CB8AC3E}">
        <p14:creationId xmlns:p14="http://schemas.microsoft.com/office/powerpoint/2010/main" val="122715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164B9D-4348-44D5-8B8A-1709323034D8}"/>
              </a:ext>
            </a:extLst>
          </p:cNvPr>
          <p:cNvSpPr>
            <a:spLocks noGrp="1"/>
          </p:cNvSpPr>
          <p:nvPr>
            <p:ph type="title"/>
          </p:nvPr>
        </p:nvSpPr>
        <p:spPr>
          <a:xfrm>
            <a:off x="681038" y="365126"/>
            <a:ext cx="8543925"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33DC23-DE00-44B4-B3CF-DA1A922902C3}"/>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6A1E50-0A3C-4587-80C5-DD03EEC75EF1}"/>
              </a:ext>
            </a:extLst>
          </p:cNvPr>
          <p:cNvSpPr>
            <a:spLocks noGrp="1"/>
          </p:cNvSpPr>
          <p:nvPr>
            <p:ph type="dt" sz="half" idx="2"/>
          </p:nvPr>
        </p:nvSpPr>
        <p:spPr>
          <a:xfrm>
            <a:off x="681038" y="6356351"/>
            <a:ext cx="2228850" cy="365125"/>
          </a:xfrm>
          <a:prstGeom prst="rect">
            <a:avLst/>
          </a:prstGeom>
        </p:spPr>
        <p:txBody>
          <a:bodyPr vert="horz" lIns="91440" tIns="45720" rIns="91440" bIns="45720" rtlCol="0" anchor="ctr"/>
          <a:lstStyle>
            <a:lvl1pPr algn="l">
              <a:defRPr sz="975">
                <a:solidFill>
                  <a:schemeClr val="tx1">
                    <a:tint val="75000"/>
                  </a:schemeClr>
                </a:solidFill>
              </a:defRPr>
            </a:lvl1pPr>
          </a:lstStyle>
          <a:p>
            <a:fld id="{86C0E0E8-D7B8-4E6B-AE2D-70AF62476BA4}" type="datetimeFigureOut">
              <a:rPr lang="en-IN" smtClean="0"/>
              <a:t>16-03-2026</a:t>
            </a:fld>
            <a:endParaRPr lang="en-IN"/>
          </a:p>
        </p:txBody>
      </p:sp>
      <p:sp>
        <p:nvSpPr>
          <p:cNvPr id="5" name="Footer Placeholder 4">
            <a:extLst>
              <a:ext uri="{FF2B5EF4-FFF2-40B4-BE49-F238E27FC236}">
                <a16:creationId xmlns:a16="http://schemas.microsoft.com/office/drawing/2014/main" id="{C9045EAC-018C-4D2C-8B29-613C433F73DD}"/>
              </a:ext>
            </a:extLst>
          </p:cNvPr>
          <p:cNvSpPr>
            <a:spLocks noGrp="1"/>
          </p:cNvSpPr>
          <p:nvPr>
            <p:ph type="ftr" sz="quarter" idx="3"/>
          </p:nvPr>
        </p:nvSpPr>
        <p:spPr>
          <a:xfrm>
            <a:off x="3281363" y="6356351"/>
            <a:ext cx="3343275" cy="365125"/>
          </a:xfrm>
          <a:prstGeom prst="rect">
            <a:avLst/>
          </a:prstGeom>
        </p:spPr>
        <p:txBody>
          <a:bodyPr vert="horz" lIns="91440" tIns="45720" rIns="91440" bIns="45720" rtlCol="0" anchor="ctr"/>
          <a:lstStyle>
            <a:lvl1pPr algn="ctr">
              <a:defRPr sz="975">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84232-EEF6-4871-A3EF-7761FE590FA7}"/>
              </a:ext>
            </a:extLst>
          </p:cNvPr>
          <p:cNvSpPr>
            <a:spLocks noGrp="1"/>
          </p:cNvSpPr>
          <p:nvPr>
            <p:ph type="sldNum" sz="quarter" idx="4"/>
          </p:nvPr>
        </p:nvSpPr>
        <p:spPr>
          <a:xfrm>
            <a:off x="6996113" y="6356351"/>
            <a:ext cx="2228850" cy="365125"/>
          </a:xfrm>
          <a:prstGeom prst="rect">
            <a:avLst/>
          </a:prstGeom>
        </p:spPr>
        <p:txBody>
          <a:bodyPr vert="horz" lIns="91440" tIns="45720" rIns="91440" bIns="45720" rtlCol="0" anchor="ctr"/>
          <a:lstStyle>
            <a:lvl1pPr algn="r">
              <a:defRPr sz="975">
                <a:solidFill>
                  <a:schemeClr val="tx1">
                    <a:tint val="75000"/>
                  </a:schemeClr>
                </a:solidFill>
              </a:defRPr>
            </a:lvl1pPr>
          </a:lstStyle>
          <a:p>
            <a:fld id="{EE6FD835-7DB8-49A7-AE08-5CAE8D7D5559}" type="slidenum">
              <a:rPr lang="en-IN" smtClean="0"/>
              <a:t>‹#›</a:t>
            </a:fld>
            <a:endParaRPr lang="en-IN"/>
          </a:p>
        </p:txBody>
      </p:sp>
    </p:spTree>
    <p:extLst>
      <p:ext uri="{BB962C8B-B14F-4D97-AF65-F5344CB8AC3E}">
        <p14:creationId xmlns:p14="http://schemas.microsoft.com/office/powerpoint/2010/main" val="10518513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742950" rtl="0" eaLnBrk="1" latinLnBrk="0" hangingPunct="1">
        <a:lnSpc>
          <a:spcPct val="90000"/>
        </a:lnSpc>
        <a:spcBef>
          <a:spcPct val="0"/>
        </a:spcBef>
        <a:buNone/>
        <a:defRPr sz="3575" kern="1200">
          <a:solidFill>
            <a:schemeClr val="tx1"/>
          </a:solidFill>
          <a:latin typeface="+mj-lt"/>
          <a:ea typeface="+mj-ea"/>
          <a:cs typeface="+mj-cs"/>
        </a:defRPr>
      </a:lvl1pPr>
    </p:titleStyle>
    <p:body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en-US"/>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
          <p:cNvSpPr txBox="1">
            <a:spLocks noGrp="1"/>
          </p:cNvSpPr>
          <p:nvPr>
            <p:ph type="ctrTitle"/>
          </p:nvPr>
        </p:nvSpPr>
        <p:spPr>
          <a:xfrm>
            <a:off x="1280592" y="2190849"/>
            <a:ext cx="7696200" cy="1726907"/>
          </a:xfrm>
          <a:prstGeom prst="rect">
            <a:avLst/>
          </a:prstGeom>
          <a:noFill/>
          <a:ln>
            <a:noFill/>
          </a:ln>
        </p:spPr>
        <p:txBody>
          <a:bodyPr spcFirstLastPara="1" wrap="square" lIns="91425" tIns="45700" rIns="91425" bIns="45700" anchor="ctr" anchorCtr="0">
            <a:noAutofit/>
          </a:bodyPr>
          <a:lstStyle/>
          <a:p>
            <a:pPr lvl="0">
              <a:buClr>
                <a:srgbClr val="FF0000"/>
              </a:buClr>
              <a:buSzPts val="3200"/>
            </a:pPr>
            <a:br>
              <a:rPr lang="en-US" sz="2400" b="1" dirty="0">
                <a:solidFill>
                  <a:srgbClr val="002060"/>
                </a:solidFill>
                <a:sym typeface="Arial"/>
              </a:rPr>
            </a:br>
            <a:br>
              <a:rPr lang="en-US" sz="2400" b="1" dirty="0">
                <a:solidFill>
                  <a:srgbClr val="002060"/>
                </a:solidFill>
                <a:sym typeface="Arial"/>
              </a:rPr>
            </a:br>
            <a:r>
              <a:rPr lang="en-US" sz="4000" b="1" dirty="0">
                <a:solidFill>
                  <a:srgbClr val="FF0000"/>
                </a:solidFill>
              </a:rPr>
              <a:t>SmartEye: The AI Surveillance System</a:t>
            </a:r>
            <a:br>
              <a:rPr lang="en-US" sz="2800" b="1" dirty="0">
                <a:solidFill>
                  <a:srgbClr val="002060"/>
                </a:solidFill>
              </a:rPr>
            </a:br>
            <a:br>
              <a:rPr lang="en-US" sz="3600" b="1" dirty="0">
                <a:solidFill>
                  <a:srgbClr val="002060"/>
                </a:solidFill>
              </a:rPr>
            </a:br>
            <a:endParaRPr sz="2800" b="1" dirty="0">
              <a:solidFill>
                <a:srgbClr val="002060"/>
              </a:solidFill>
            </a:endParaRPr>
          </a:p>
        </p:txBody>
      </p:sp>
      <p:sp>
        <p:nvSpPr>
          <p:cNvPr id="94" name="Google Shape;94;p1"/>
          <p:cNvSpPr/>
          <p:nvPr/>
        </p:nvSpPr>
        <p:spPr>
          <a:xfrm>
            <a:off x="416496" y="4231187"/>
            <a:ext cx="7848600"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endParaRPr sz="3200" b="1" i="0" u="none" strike="noStrike" cap="none">
              <a:solidFill>
                <a:srgbClr val="00206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3200"/>
              <a:buFont typeface="Arial"/>
              <a:buNone/>
            </a:pPr>
            <a:endParaRPr sz="3200" b="0" i="0" u="none" strike="noStrike" cap="none">
              <a:solidFill>
                <a:srgbClr val="0070C0"/>
              </a:solidFill>
              <a:latin typeface="Times New Roman"/>
              <a:ea typeface="Times New Roman"/>
              <a:cs typeface="Times New Roman"/>
              <a:sym typeface="Times New Roman"/>
            </a:endParaRPr>
          </a:p>
        </p:txBody>
      </p:sp>
      <p:sp>
        <p:nvSpPr>
          <p:cNvPr id="95" name="Google Shape;95;p1"/>
          <p:cNvSpPr txBox="1"/>
          <p:nvPr/>
        </p:nvSpPr>
        <p:spPr>
          <a:xfrm>
            <a:off x="5446940" y="4065593"/>
            <a:ext cx="4248150" cy="20112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600"/>
              </a:spcBef>
              <a:spcAft>
                <a:spcPts val="0"/>
              </a:spcAft>
              <a:buClr>
                <a:schemeClr val="dk1"/>
              </a:buClr>
              <a:buSzPts val="1100"/>
              <a:buFont typeface="Arial"/>
              <a:buNone/>
            </a:pPr>
            <a:r>
              <a:rPr lang="en-US" sz="2800" dirty="0">
                <a:solidFill>
                  <a:schemeClr val="dk1"/>
                </a:solidFill>
                <a:latin typeface="Calibri"/>
                <a:ea typeface="Calibri"/>
                <a:cs typeface="Calibri"/>
                <a:sym typeface="Calibri"/>
              </a:rPr>
              <a:t>  </a:t>
            </a:r>
            <a:endParaRPr sz="28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2060"/>
              </a:buClr>
              <a:buSzPts val="2400"/>
              <a:buFont typeface="Arial"/>
              <a:buNone/>
            </a:pPr>
            <a:endParaRPr sz="2000" b="1" dirty="0">
              <a:solidFill>
                <a:srgbClr val="002060"/>
              </a:solidFill>
              <a:latin typeface="Calibri"/>
              <a:ea typeface="Calibri"/>
              <a:cs typeface="Calibri"/>
              <a:sym typeface="Calibri"/>
            </a:endParaRPr>
          </a:p>
          <a:p>
            <a:pPr marL="0" marR="0" lvl="0" indent="0" algn="l" rtl="0">
              <a:lnSpc>
                <a:spcPct val="100000"/>
              </a:lnSpc>
              <a:spcBef>
                <a:spcPts val="480"/>
              </a:spcBef>
              <a:spcAft>
                <a:spcPts val="0"/>
              </a:spcAft>
              <a:buClr>
                <a:srgbClr val="002060"/>
              </a:buClr>
              <a:buSzPts val="2400"/>
              <a:buFont typeface="Arial"/>
              <a:buNone/>
            </a:pPr>
            <a:endParaRPr sz="28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
          <p:cNvSpPr txBox="1">
            <a:spLocks noGrp="1"/>
          </p:cNvSpPr>
          <p:nvPr>
            <p:ph type="title"/>
          </p:nvPr>
        </p:nvSpPr>
        <p:spPr>
          <a:xfrm>
            <a:off x="495300" y="226554"/>
            <a:ext cx="8915400" cy="634082"/>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FF0000"/>
              </a:buClr>
              <a:buSzPts val="3200"/>
              <a:buFont typeface="Calibri"/>
              <a:buNone/>
            </a:pPr>
            <a:r>
              <a:rPr lang="en-US" sz="3200" b="1">
                <a:solidFill>
                  <a:srgbClr val="FF0000"/>
                </a:solidFill>
              </a:rPr>
              <a:t>Outline</a:t>
            </a:r>
            <a:endParaRPr/>
          </a:p>
        </p:txBody>
      </p:sp>
      <p:sp>
        <p:nvSpPr>
          <p:cNvPr id="107" name="Google Shape;107;p3"/>
          <p:cNvSpPr txBox="1">
            <a:spLocks noGrp="1"/>
          </p:cNvSpPr>
          <p:nvPr>
            <p:ph idx="1"/>
          </p:nvPr>
        </p:nvSpPr>
        <p:spPr>
          <a:xfrm>
            <a:off x="776536" y="884678"/>
            <a:ext cx="8915400" cy="5447631"/>
          </a:xfrm>
          <a:prstGeom prst="rect">
            <a:avLst/>
          </a:prstGeom>
          <a:noFill/>
          <a:ln>
            <a:noFill/>
          </a:ln>
        </p:spPr>
        <p:txBody>
          <a:bodyPr spcFirstLastPara="1" wrap="square" lIns="91425" tIns="45700" rIns="91425" bIns="45700" anchor="t" anchorCtr="0">
            <a:noAutofit/>
          </a:bodyPr>
          <a:lstStyle/>
          <a:p>
            <a:pPr indent="-457200">
              <a:buSzPct val="95000"/>
              <a:buFont typeface="+mj-lt"/>
              <a:buAutoNum type="arabicPeriod"/>
            </a:pPr>
            <a:r>
              <a:rPr lang="en-US" sz="2400" b="1" dirty="0"/>
              <a:t>Problem Statement &amp; Motivation</a:t>
            </a:r>
          </a:p>
          <a:p>
            <a:pPr indent="-457200">
              <a:buSzPct val="95000"/>
              <a:buFont typeface="+mj-lt"/>
              <a:buAutoNum type="arabicPeriod"/>
            </a:pPr>
            <a:r>
              <a:rPr lang="en-US" sz="2400" b="1" dirty="0"/>
              <a:t>Objectives</a:t>
            </a:r>
          </a:p>
          <a:p>
            <a:pPr indent="-457200">
              <a:buSzPct val="95000"/>
              <a:buFont typeface="+mj-lt"/>
              <a:buAutoNum type="arabicPeriod"/>
            </a:pPr>
            <a:r>
              <a:rPr lang="en-US" sz="2400" b="1" dirty="0"/>
              <a:t>Existing System</a:t>
            </a:r>
          </a:p>
          <a:p>
            <a:pPr indent="-457200">
              <a:buSzPct val="95000"/>
              <a:buFont typeface="+mj-lt"/>
              <a:buAutoNum type="arabicPeriod"/>
            </a:pPr>
            <a:r>
              <a:rPr lang="en-US" sz="2400" b="1" dirty="0"/>
              <a:t>Proposed System</a:t>
            </a:r>
          </a:p>
          <a:p>
            <a:pPr indent="-457200">
              <a:buSzPct val="95000"/>
              <a:buFont typeface="+mj-lt"/>
              <a:buAutoNum type="arabicPeriod"/>
            </a:pPr>
            <a:r>
              <a:rPr lang="en-US" sz="2400" b="1" dirty="0"/>
              <a:t>System Architecture</a:t>
            </a:r>
          </a:p>
          <a:p>
            <a:pPr indent="-457200">
              <a:buSzPct val="95000"/>
              <a:buFont typeface="+mj-lt"/>
              <a:buAutoNum type="arabicPeriod"/>
            </a:pPr>
            <a:r>
              <a:rPr lang="en-US" sz="2400" b="1" dirty="0"/>
              <a:t>Implementation and Testing</a:t>
            </a:r>
          </a:p>
          <a:p>
            <a:pPr indent="-457200">
              <a:spcBef>
                <a:spcPts val="560"/>
              </a:spcBef>
              <a:buSzPct val="95000"/>
              <a:buFont typeface="+mj-lt"/>
              <a:buAutoNum type="arabicPeriod"/>
            </a:pPr>
            <a:r>
              <a:rPr lang="en-US" sz="2400" b="1" dirty="0"/>
              <a:t>Result Analysis and Discussions</a:t>
            </a:r>
          </a:p>
          <a:p>
            <a:pPr indent="-457200">
              <a:spcBef>
                <a:spcPts val="560"/>
              </a:spcBef>
              <a:buSzPct val="95000"/>
              <a:buFont typeface="+mj-lt"/>
              <a:buAutoNum type="arabicPeriod"/>
            </a:pPr>
            <a:r>
              <a:rPr lang="en-US" sz="2400" b="1" dirty="0"/>
              <a:t>Live Demonstration </a:t>
            </a:r>
          </a:p>
          <a:p>
            <a:pPr indent="-457200">
              <a:spcBef>
                <a:spcPts val="560"/>
              </a:spcBef>
              <a:buSzPct val="95000"/>
              <a:buFont typeface="+mj-lt"/>
              <a:buAutoNum type="arabicPeriod"/>
            </a:pPr>
            <a:r>
              <a:rPr lang="en-US" sz="2400" b="1" dirty="0"/>
              <a:t>Conclusion</a:t>
            </a:r>
          </a:p>
          <a:p>
            <a:pPr indent="-457200">
              <a:spcBef>
                <a:spcPts val="560"/>
              </a:spcBef>
              <a:buSzPct val="95000"/>
              <a:buFont typeface="+mj-lt"/>
              <a:buAutoNum type="arabicPeriod"/>
            </a:pPr>
            <a:r>
              <a:rPr lang="en-US" sz="2400" b="1" dirty="0"/>
              <a:t>Future Scope</a:t>
            </a:r>
            <a:endParaRPr sz="2400" b="1" dirty="0"/>
          </a:p>
          <a:p>
            <a:pPr indent="-457200">
              <a:spcBef>
                <a:spcPts val="560"/>
              </a:spcBef>
              <a:buSzPct val="95000"/>
              <a:buFont typeface="+mj-lt"/>
              <a:buAutoNum type="arabicPeriod"/>
            </a:pPr>
            <a:r>
              <a:rPr lang="en-US" sz="2400" b="1" dirty="0"/>
              <a:t>References</a:t>
            </a:r>
            <a:endParaRPr sz="2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90544-D8D4-34B2-06CE-9F0B67039149}"/>
              </a:ext>
            </a:extLst>
          </p:cNvPr>
          <p:cNvSpPr>
            <a:spLocks noGrp="1"/>
          </p:cNvSpPr>
          <p:nvPr>
            <p:ph type="title"/>
          </p:nvPr>
        </p:nvSpPr>
        <p:spPr>
          <a:xfrm>
            <a:off x="495300" y="274638"/>
            <a:ext cx="8915400" cy="610733"/>
          </a:xfrm>
        </p:spPr>
        <p:txBody>
          <a:bodyPr/>
          <a:lstStyle/>
          <a:p>
            <a:r>
              <a:rPr lang="en-US" sz="3600" b="1" dirty="0">
                <a:solidFill>
                  <a:srgbClr val="0070C0"/>
                </a:solidFill>
              </a:rPr>
              <a:t>Problem Statement and Motivation</a:t>
            </a:r>
            <a:endParaRPr lang="en-IN" sz="3600" b="1" dirty="0">
              <a:solidFill>
                <a:srgbClr val="0070C0"/>
              </a:solidFill>
            </a:endParaRPr>
          </a:p>
        </p:txBody>
      </p:sp>
      <p:sp>
        <p:nvSpPr>
          <p:cNvPr id="3" name="Text Placeholder 2">
            <a:extLst>
              <a:ext uri="{FF2B5EF4-FFF2-40B4-BE49-F238E27FC236}">
                <a16:creationId xmlns:a16="http://schemas.microsoft.com/office/drawing/2014/main" id="{99F52E9D-38A6-A515-1CEE-C5D4C5664454}"/>
              </a:ext>
            </a:extLst>
          </p:cNvPr>
          <p:cNvSpPr>
            <a:spLocks noGrp="1"/>
          </p:cNvSpPr>
          <p:nvPr>
            <p:ph idx="1"/>
          </p:nvPr>
        </p:nvSpPr>
        <p:spPr>
          <a:xfrm>
            <a:off x="681038" y="1138335"/>
            <a:ext cx="8543925" cy="5038628"/>
          </a:xfrm>
        </p:spPr>
        <p:txBody>
          <a:bodyPr/>
          <a:lstStyle/>
          <a:p>
            <a:pPr algn="just"/>
            <a:r>
              <a:rPr lang="en-US" sz="2400" b="1" dirty="0"/>
              <a:t>Problem Statement: </a:t>
            </a:r>
            <a:r>
              <a:rPr lang="en-US" sz="2400" dirty="0"/>
              <a:t>Traditional CCTV systems only record video and need humans to watch them. Motion sensors give many false alarms. There is no smart system that can detect real intrusions and give instant alerts automatically.</a:t>
            </a:r>
          </a:p>
          <a:p>
            <a:pPr algn="just"/>
            <a:endParaRPr lang="en-US" sz="2400" dirty="0"/>
          </a:p>
          <a:p>
            <a:pPr algn="just"/>
            <a:endParaRPr lang="en-US" sz="2400" dirty="0"/>
          </a:p>
          <a:p>
            <a:pPr algn="just"/>
            <a:r>
              <a:rPr lang="en-US" sz="2400" b="1" dirty="0"/>
              <a:t>Motivation: </a:t>
            </a:r>
            <a:r>
              <a:rPr lang="en-US" sz="2400" dirty="0"/>
              <a:t>To build a low-cost smart system that can detect intruders in real time and reduce false alarms using AI and sensors.</a:t>
            </a:r>
            <a:endParaRPr lang="en-IN" sz="2400" dirty="0"/>
          </a:p>
        </p:txBody>
      </p:sp>
    </p:spTree>
    <p:extLst>
      <p:ext uri="{BB962C8B-B14F-4D97-AF65-F5344CB8AC3E}">
        <p14:creationId xmlns:p14="http://schemas.microsoft.com/office/powerpoint/2010/main" val="2617807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title"/>
          </p:nvPr>
        </p:nvSpPr>
        <p:spPr>
          <a:xfrm>
            <a:off x="495300" y="274637"/>
            <a:ext cx="8915400" cy="6083959"/>
          </a:xfrm>
          <a:prstGeom prst="rect">
            <a:avLst/>
          </a:prstGeom>
          <a:noFill/>
          <a:ln>
            <a:noFill/>
          </a:ln>
        </p:spPr>
        <p:txBody>
          <a:bodyPr spcFirstLastPara="1" wrap="square" lIns="91425" tIns="45700" rIns="91425" bIns="45700" anchor="t" anchorCtr="0">
            <a:noAutofit/>
          </a:bodyPr>
          <a:lstStyle/>
          <a:p>
            <a:pPr marL="0" lvl="0" indent="0"/>
            <a:r>
              <a:rPr lang="en-US" sz="3600" b="1" dirty="0">
                <a:solidFill>
                  <a:srgbClr val="0070C0"/>
                </a:solidFill>
              </a:rPr>
              <a:t>Objectives</a:t>
            </a:r>
            <a:endParaRPr sz="3600" b="1" dirty="0">
              <a:solidFill>
                <a:srgbClr val="0070C0"/>
              </a:solidFill>
            </a:endParaRPr>
          </a:p>
        </p:txBody>
      </p:sp>
      <p:sp>
        <p:nvSpPr>
          <p:cNvPr id="120" name="Google Shape;120;p5"/>
          <p:cNvSpPr txBox="1">
            <a:spLocks noGrp="1"/>
          </p:cNvSpPr>
          <p:nvPr>
            <p:ph idx="1"/>
          </p:nvPr>
        </p:nvSpPr>
        <p:spPr>
          <a:xfrm>
            <a:off x="495300" y="1087550"/>
            <a:ext cx="8915400" cy="5038500"/>
          </a:xfrm>
          <a:prstGeom prst="rect">
            <a:avLst/>
          </a:prstGeom>
          <a:noFill/>
          <a:ln>
            <a:noFill/>
          </a:ln>
        </p:spPr>
        <p:txBody>
          <a:bodyPr spcFirstLastPara="1" wrap="square" lIns="91425" tIns="45700" rIns="91425" bIns="45700" anchor="t" anchorCtr="0">
            <a:noAutofit/>
          </a:bodyPr>
          <a:lstStyle/>
          <a:p>
            <a:pPr marL="25400" lvl="0" indent="0">
              <a:buNone/>
            </a:pPr>
            <a:endParaRPr lang="en-IN" dirty="0"/>
          </a:p>
          <a:p>
            <a:pPr marL="0" lvl="0" indent="0" algn="just" rtl="0">
              <a:lnSpc>
                <a:spcPct val="100000"/>
              </a:lnSpc>
              <a:spcBef>
                <a:spcPts val="0"/>
              </a:spcBef>
              <a:spcAft>
                <a:spcPts val="0"/>
              </a:spcAft>
              <a:buClr>
                <a:schemeClr val="dk1"/>
              </a:buClr>
              <a:buSzPts val="2200"/>
              <a:buNone/>
            </a:pPr>
            <a:endParaRPr sz="2200" dirty="0"/>
          </a:p>
        </p:txBody>
      </p:sp>
      <p:sp>
        <p:nvSpPr>
          <p:cNvPr id="6" name="Rectangle 5">
            <a:extLst>
              <a:ext uri="{FF2B5EF4-FFF2-40B4-BE49-F238E27FC236}">
                <a16:creationId xmlns:a16="http://schemas.microsoft.com/office/drawing/2014/main" id="{F389E17E-CBA1-4C86-86EB-3FBDA9593A2C}"/>
              </a:ext>
            </a:extLst>
          </p:cNvPr>
          <p:cNvSpPr>
            <a:spLocks noChangeArrowheads="1"/>
          </p:cNvSpPr>
          <p:nvPr/>
        </p:nvSpPr>
        <p:spPr bwMode="auto">
          <a:xfrm>
            <a:off x="961053" y="-7149324"/>
            <a:ext cx="8360229" cy="12434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indent="-342900" algn="just">
              <a:buClr>
                <a:schemeClr val="dk1"/>
              </a:buClr>
              <a:buSzPts val="3200"/>
              <a:buFont typeface="Arial" panose="020B0604020202020204" pitchFamily="34" charset="0"/>
              <a:buChar char="•"/>
              <a:defRPr/>
            </a:pPr>
            <a:r>
              <a:rPr lang="en-US" sz="2200" dirty="0"/>
              <a:t>To design a </a:t>
            </a:r>
            <a:r>
              <a:rPr lang="en-US" sz="2200" b="1" dirty="0"/>
              <a:t>cost-efficient, AI-enabled intruder detection system</a:t>
            </a:r>
            <a:r>
              <a:rPr lang="en-US" sz="2200" dirty="0"/>
              <a:t> using IoT hardware.</a:t>
            </a:r>
          </a:p>
          <a:p>
            <a:pPr marL="342900" indent="-342900" algn="just">
              <a:buFont typeface="Arial" panose="020B0604020202020204" pitchFamily="34" charset="0"/>
              <a:buChar char="•"/>
              <a:defRPr/>
            </a:pPr>
            <a:endParaRPr lang="en-US" sz="2200" dirty="0"/>
          </a:p>
          <a:p>
            <a:pPr marL="342900" indent="-342900" algn="just">
              <a:buClr>
                <a:schemeClr val="dk1"/>
              </a:buClr>
              <a:buSzPts val="3200"/>
              <a:buFont typeface="Arial" panose="020B0604020202020204" pitchFamily="34" charset="0"/>
              <a:buChar char="•"/>
              <a:defRPr/>
            </a:pPr>
            <a:r>
              <a:rPr lang="en-US" sz="2200" dirty="0"/>
              <a:t>To develop and deploy a </a:t>
            </a:r>
            <a:r>
              <a:rPr lang="en-US" sz="2200" b="1" dirty="0" err="1"/>
              <a:t>TinyML</a:t>
            </a:r>
            <a:r>
              <a:rPr lang="en-US" sz="2200" b="1" dirty="0"/>
              <a:t>-optimized lightweight model</a:t>
            </a:r>
            <a:r>
              <a:rPr lang="en-US" sz="2200" dirty="0"/>
              <a:t> capable of real-time local object detection.</a:t>
            </a:r>
          </a:p>
          <a:p>
            <a:pPr marL="342900" indent="-342900" algn="just">
              <a:buFont typeface="Arial" panose="020B0604020202020204" pitchFamily="34" charset="0"/>
              <a:buChar char="•"/>
              <a:defRPr/>
            </a:pPr>
            <a:endParaRPr lang="en-US" sz="2200" dirty="0"/>
          </a:p>
          <a:p>
            <a:pPr marL="342900" indent="-342900" algn="just">
              <a:buClr>
                <a:schemeClr val="dk1"/>
              </a:buClr>
              <a:buSzPts val="3200"/>
              <a:buFont typeface="Arial" panose="020B0604020202020204" pitchFamily="34" charset="0"/>
              <a:buChar char="•"/>
              <a:defRPr/>
            </a:pPr>
            <a:r>
              <a:rPr lang="en-US" sz="2200" dirty="0"/>
              <a:t>To improve detection accuracy by </a:t>
            </a:r>
            <a:r>
              <a:rPr lang="en-US" sz="2200" b="1" dirty="0"/>
              <a:t>classifying humans, animals, and vehicles</a:t>
            </a:r>
            <a:r>
              <a:rPr lang="en-US" sz="2200" dirty="0"/>
              <a:t> to significantly reduce false triggers.</a:t>
            </a:r>
          </a:p>
          <a:p>
            <a:pPr marL="342900" indent="-342900" algn="just">
              <a:buFont typeface="Arial" panose="020B0604020202020204" pitchFamily="34" charset="0"/>
              <a:buChar char="•"/>
              <a:defRPr/>
            </a:pPr>
            <a:endParaRPr lang="en-US" sz="2200" dirty="0"/>
          </a:p>
          <a:p>
            <a:pPr marL="342900" indent="-342900" algn="just">
              <a:buClr>
                <a:schemeClr val="dk1"/>
              </a:buClr>
              <a:buSzPts val="3200"/>
              <a:buFont typeface="Arial" panose="020B0604020202020204" pitchFamily="34" charset="0"/>
              <a:buChar char="•"/>
              <a:defRPr/>
            </a:pPr>
            <a:r>
              <a:rPr lang="en-US" sz="2200" dirty="0"/>
              <a:t>To evaluate, benchmark, and optimize system performance under </a:t>
            </a:r>
            <a:r>
              <a:rPr lang="en-US" sz="2200" b="1" dirty="0"/>
              <a:t>real-world environmental conditions</a:t>
            </a:r>
            <a:r>
              <a:rPr lang="en-US" sz="2400" dirty="0"/>
              <a:t>. </a:t>
            </a:r>
            <a:endParaRPr lang="en-US" sz="4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CBD22-65BF-D221-25B6-89C2F6DBE16A}"/>
              </a:ext>
            </a:extLst>
          </p:cNvPr>
          <p:cNvSpPr>
            <a:spLocks noGrp="1"/>
          </p:cNvSpPr>
          <p:nvPr>
            <p:ph type="title"/>
          </p:nvPr>
        </p:nvSpPr>
        <p:spPr/>
        <p:txBody>
          <a:bodyPr/>
          <a:lstStyle/>
          <a:p>
            <a:r>
              <a:rPr lang="en-US" sz="3600" b="1" dirty="0">
                <a:solidFill>
                  <a:srgbClr val="0070C0"/>
                </a:solidFill>
              </a:rPr>
              <a:t>Existing System</a:t>
            </a:r>
            <a:endParaRPr lang="en-IN" sz="3600" b="1" dirty="0">
              <a:solidFill>
                <a:srgbClr val="0070C0"/>
              </a:solidFill>
            </a:endParaRPr>
          </a:p>
        </p:txBody>
      </p:sp>
      <p:sp>
        <p:nvSpPr>
          <p:cNvPr id="3" name="Text Placeholder 2">
            <a:extLst>
              <a:ext uri="{FF2B5EF4-FFF2-40B4-BE49-F238E27FC236}">
                <a16:creationId xmlns:a16="http://schemas.microsoft.com/office/drawing/2014/main" id="{B185556F-1CF8-4F94-3318-9FF8024386EF}"/>
              </a:ext>
            </a:extLst>
          </p:cNvPr>
          <p:cNvSpPr>
            <a:spLocks noGrp="1"/>
          </p:cNvSpPr>
          <p:nvPr>
            <p:ph idx="1"/>
          </p:nvPr>
        </p:nvSpPr>
        <p:spPr>
          <a:xfrm>
            <a:off x="495300" y="1417639"/>
            <a:ext cx="8915400" cy="4708526"/>
          </a:xfrm>
        </p:spPr>
        <p:txBody>
          <a:bodyPr/>
          <a:lstStyle/>
          <a:p>
            <a:pPr lvl="0" algn="just"/>
            <a:r>
              <a:rPr lang="en-US" sz="2200" b="1" dirty="0"/>
              <a:t>Summary of Literature Survey: </a:t>
            </a:r>
            <a:r>
              <a:rPr lang="en-US" sz="2200" dirty="0"/>
              <a:t>Current surveillance systems mainly use CCTV cameras and basic motion sensors. Some recent systems use AI for object detection, but many depend on cloud processing. Most systems either need human monitoring or give many false alarms. They are costly, slow in response, and not fully reliable for real-time security.</a:t>
            </a:r>
            <a:endParaRPr lang="en-IN" sz="2200" dirty="0"/>
          </a:p>
          <a:p>
            <a:pPr algn="just"/>
            <a:endParaRPr lang="en-IN" sz="2200" dirty="0"/>
          </a:p>
          <a:p>
            <a:r>
              <a:rPr lang="en-US" sz="2200" b="1" dirty="0"/>
              <a:t>Current Solutions / Methods:</a:t>
            </a:r>
            <a:endParaRPr lang="en-US" sz="2200" dirty="0"/>
          </a:p>
          <a:p>
            <a:pPr lvl="1"/>
            <a:r>
              <a:rPr lang="en-US" sz="2000" dirty="0"/>
              <a:t>CCTV with manual monitoring</a:t>
            </a:r>
          </a:p>
          <a:p>
            <a:pPr lvl="1"/>
            <a:r>
              <a:rPr lang="en-US" sz="2000" dirty="0"/>
              <a:t>PIR or radar based motion sensors</a:t>
            </a:r>
          </a:p>
          <a:p>
            <a:pPr lvl="1"/>
            <a:r>
              <a:rPr lang="en-US" sz="2000" dirty="0"/>
              <a:t>AI-based object detection using deep learning</a:t>
            </a:r>
          </a:p>
          <a:p>
            <a:pPr lvl="1"/>
            <a:r>
              <a:rPr lang="en-US" sz="2000" dirty="0"/>
              <a:t>Cloud-based video analytics systems</a:t>
            </a:r>
          </a:p>
          <a:p>
            <a:pPr algn="just"/>
            <a:endParaRPr lang="en-IN" sz="2800" dirty="0"/>
          </a:p>
        </p:txBody>
      </p:sp>
    </p:spTree>
    <p:extLst>
      <p:ext uri="{BB962C8B-B14F-4D97-AF65-F5344CB8AC3E}">
        <p14:creationId xmlns:p14="http://schemas.microsoft.com/office/powerpoint/2010/main" val="1401511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CBD22-65BF-D221-25B6-89C2F6DBE16A}"/>
              </a:ext>
            </a:extLst>
          </p:cNvPr>
          <p:cNvSpPr>
            <a:spLocks noGrp="1"/>
          </p:cNvSpPr>
          <p:nvPr>
            <p:ph type="title"/>
          </p:nvPr>
        </p:nvSpPr>
        <p:spPr>
          <a:xfrm>
            <a:off x="681038" y="365126"/>
            <a:ext cx="8543925" cy="1109111"/>
          </a:xfrm>
        </p:spPr>
        <p:txBody>
          <a:bodyPr/>
          <a:lstStyle/>
          <a:p>
            <a:r>
              <a:rPr lang="en-US" sz="3600" b="1" dirty="0">
                <a:solidFill>
                  <a:srgbClr val="0070C0"/>
                </a:solidFill>
              </a:rPr>
              <a:t>Existing System</a:t>
            </a:r>
            <a:endParaRPr lang="en-IN" sz="3600" b="1" dirty="0">
              <a:solidFill>
                <a:srgbClr val="0070C0"/>
              </a:solidFill>
            </a:endParaRPr>
          </a:p>
        </p:txBody>
      </p:sp>
      <p:sp>
        <p:nvSpPr>
          <p:cNvPr id="3" name="Text Placeholder 2">
            <a:extLst>
              <a:ext uri="{FF2B5EF4-FFF2-40B4-BE49-F238E27FC236}">
                <a16:creationId xmlns:a16="http://schemas.microsoft.com/office/drawing/2014/main" id="{B185556F-1CF8-4F94-3318-9FF8024386EF}"/>
              </a:ext>
            </a:extLst>
          </p:cNvPr>
          <p:cNvSpPr>
            <a:spLocks noGrp="1"/>
          </p:cNvSpPr>
          <p:nvPr>
            <p:ph idx="1"/>
          </p:nvPr>
        </p:nvSpPr>
        <p:spPr>
          <a:xfrm>
            <a:off x="495300" y="1101013"/>
            <a:ext cx="8915400" cy="5025152"/>
          </a:xfrm>
        </p:spPr>
        <p:txBody>
          <a:bodyPr/>
          <a:lstStyle/>
          <a:p>
            <a:r>
              <a:rPr lang="en-US" sz="2200" b="1" dirty="0"/>
              <a:t>Limitations :</a:t>
            </a:r>
            <a:endParaRPr lang="en-US" sz="2200" dirty="0"/>
          </a:p>
          <a:p>
            <a:pPr lvl="1">
              <a:buFont typeface="Arial" panose="020B0604020202020204" pitchFamily="34" charset="0"/>
              <a:buChar char="•"/>
            </a:pPr>
            <a:r>
              <a:rPr lang="en-US" sz="2400" dirty="0"/>
              <a:t>Need continuous human attention</a:t>
            </a:r>
          </a:p>
          <a:p>
            <a:pPr lvl="1">
              <a:buFont typeface="Arial" panose="020B0604020202020204" pitchFamily="34" charset="0"/>
              <a:buChar char="•"/>
            </a:pPr>
            <a:r>
              <a:rPr lang="en-US" sz="2400" dirty="0"/>
              <a:t>High false alarms from motion-only systems</a:t>
            </a:r>
          </a:p>
          <a:p>
            <a:pPr lvl="1">
              <a:buFont typeface="Arial" panose="020B0604020202020204" pitchFamily="34" charset="0"/>
              <a:buChar char="•"/>
            </a:pPr>
            <a:r>
              <a:rPr lang="en-US" sz="2400" dirty="0"/>
              <a:t>High cost of AI cloud systems</a:t>
            </a:r>
          </a:p>
          <a:p>
            <a:pPr lvl="1">
              <a:buFont typeface="Arial" panose="020B0604020202020204" pitchFamily="34" charset="0"/>
              <a:buChar char="•"/>
            </a:pPr>
            <a:r>
              <a:rPr lang="en-US" sz="2400" dirty="0"/>
              <a:t>Delay in alert due to cloud processing</a:t>
            </a:r>
          </a:p>
          <a:p>
            <a:pPr lvl="1">
              <a:buFont typeface="Arial" panose="020B0604020202020204" pitchFamily="34" charset="0"/>
              <a:buChar char="•"/>
            </a:pPr>
            <a:r>
              <a:rPr lang="en-US" sz="2400" dirty="0"/>
              <a:t>No proper fusion of sensor and vision in low-cost systems</a:t>
            </a:r>
          </a:p>
          <a:p>
            <a:pPr marL="50800" indent="0">
              <a:buNone/>
            </a:pPr>
            <a:endParaRPr lang="en-US" sz="2800" dirty="0"/>
          </a:p>
          <a:p>
            <a:pPr lvl="1">
              <a:buFont typeface="Arial" panose="020B0604020202020204" pitchFamily="34" charset="0"/>
              <a:buChar char="•"/>
            </a:pPr>
            <a:endParaRPr lang="en-US" sz="2400" dirty="0"/>
          </a:p>
          <a:p>
            <a:pPr lvl="0" algn="just"/>
            <a:endParaRPr lang="en-IN" sz="2800" dirty="0"/>
          </a:p>
          <a:p>
            <a:pPr algn="just"/>
            <a:endParaRPr lang="en-IN" sz="2800" dirty="0"/>
          </a:p>
        </p:txBody>
      </p:sp>
    </p:spTree>
    <p:extLst>
      <p:ext uri="{BB962C8B-B14F-4D97-AF65-F5344CB8AC3E}">
        <p14:creationId xmlns:p14="http://schemas.microsoft.com/office/powerpoint/2010/main" val="2715178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CBD22-65BF-D221-25B6-89C2F6DBE16A}"/>
              </a:ext>
            </a:extLst>
          </p:cNvPr>
          <p:cNvSpPr>
            <a:spLocks noGrp="1"/>
          </p:cNvSpPr>
          <p:nvPr>
            <p:ph type="title"/>
          </p:nvPr>
        </p:nvSpPr>
        <p:spPr>
          <a:xfrm>
            <a:off x="681038" y="365127"/>
            <a:ext cx="8543925" cy="1165094"/>
          </a:xfrm>
        </p:spPr>
        <p:txBody>
          <a:bodyPr/>
          <a:lstStyle/>
          <a:p>
            <a:r>
              <a:rPr lang="en-US" sz="3600" b="1" dirty="0">
                <a:solidFill>
                  <a:srgbClr val="0070C0"/>
                </a:solidFill>
              </a:rPr>
              <a:t>Existing System</a:t>
            </a:r>
            <a:endParaRPr lang="en-IN" sz="3600" b="1" dirty="0">
              <a:solidFill>
                <a:srgbClr val="0070C0"/>
              </a:solidFill>
            </a:endParaRPr>
          </a:p>
        </p:txBody>
      </p:sp>
      <p:sp>
        <p:nvSpPr>
          <p:cNvPr id="3" name="Text Placeholder 2">
            <a:extLst>
              <a:ext uri="{FF2B5EF4-FFF2-40B4-BE49-F238E27FC236}">
                <a16:creationId xmlns:a16="http://schemas.microsoft.com/office/drawing/2014/main" id="{B185556F-1CF8-4F94-3318-9FF8024386EF}"/>
              </a:ext>
            </a:extLst>
          </p:cNvPr>
          <p:cNvSpPr>
            <a:spLocks noGrp="1"/>
          </p:cNvSpPr>
          <p:nvPr>
            <p:ph idx="1"/>
          </p:nvPr>
        </p:nvSpPr>
        <p:spPr>
          <a:xfrm>
            <a:off x="495300" y="1101013"/>
            <a:ext cx="8915400" cy="5025152"/>
          </a:xfrm>
        </p:spPr>
        <p:txBody>
          <a:bodyPr/>
          <a:lstStyle/>
          <a:p>
            <a:pPr marL="50800" indent="0">
              <a:buNone/>
            </a:pPr>
            <a:endParaRPr lang="en-US" sz="2800" dirty="0"/>
          </a:p>
          <a:p>
            <a:pPr lvl="1">
              <a:buFont typeface="Arial" panose="020B0604020202020204" pitchFamily="34" charset="0"/>
              <a:buChar char="•"/>
            </a:pPr>
            <a:endParaRPr lang="en-US" sz="2400" dirty="0"/>
          </a:p>
          <a:p>
            <a:pPr lvl="0" algn="just"/>
            <a:endParaRPr lang="en-IN" sz="2800" dirty="0"/>
          </a:p>
          <a:p>
            <a:pPr algn="just"/>
            <a:endParaRPr lang="en-IN" sz="2800" dirty="0"/>
          </a:p>
        </p:txBody>
      </p:sp>
      <p:graphicFrame>
        <p:nvGraphicFramePr>
          <p:cNvPr id="4" name="Table 3">
            <a:extLst>
              <a:ext uri="{FF2B5EF4-FFF2-40B4-BE49-F238E27FC236}">
                <a16:creationId xmlns:a16="http://schemas.microsoft.com/office/drawing/2014/main" id="{5689D215-A1F4-4C71-97B6-796F7CE486C1}"/>
              </a:ext>
            </a:extLst>
          </p:cNvPr>
          <p:cNvGraphicFramePr>
            <a:graphicFrameLocks noGrp="1"/>
          </p:cNvGraphicFramePr>
          <p:nvPr>
            <p:extLst>
              <p:ext uri="{D42A27DB-BD31-4B8C-83A1-F6EECF244321}">
                <p14:modId xmlns:p14="http://schemas.microsoft.com/office/powerpoint/2010/main" val="3986330578"/>
              </p:ext>
            </p:extLst>
          </p:nvPr>
        </p:nvGraphicFramePr>
        <p:xfrm>
          <a:off x="866776" y="1181101"/>
          <a:ext cx="8543924" cy="4945065"/>
        </p:xfrm>
        <a:graphic>
          <a:graphicData uri="http://schemas.openxmlformats.org/drawingml/2006/table">
            <a:tbl>
              <a:tblPr>
                <a:tableStyleId>{9B3D1C26-BEBA-40EB-B880-04AE644533D2}</a:tableStyleId>
              </a:tblPr>
              <a:tblGrid>
                <a:gridCol w="2135981">
                  <a:extLst>
                    <a:ext uri="{9D8B030D-6E8A-4147-A177-3AD203B41FA5}">
                      <a16:colId xmlns:a16="http://schemas.microsoft.com/office/drawing/2014/main" val="117325059"/>
                    </a:ext>
                  </a:extLst>
                </a:gridCol>
                <a:gridCol w="2135981">
                  <a:extLst>
                    <a:ext uri="{9D8B030D-6E8A-4147-A177-3AD203B41FA5}">
                      <a16:colId xmlns:a16="http://schemas.microsoft.com/office/drawing/2014/main" val="150862768"/>
                    </a:ext>
                  </a:extLst>
                </a:gridCol>
                <a:gridCol w="2135981">
                  <a:extLst>
                    <a:ext uri="{9D8B030D-6E8A-4147-A177-3AD203B41FA5}">
                      <a16:colId xmlns:a16="http://schemas.microsoft.com/office/drawing/2014/main" val="3639561027"/>
                    </a:ext>
                  </a:extLst>
                </a:gridCol>
                <a:gridCol w="2135981">
                  <a:extLst>
                    <a:ext uri="{9D8B030D-6E8A-4147-A177-3AD203B41FA5}">
                      <a16:colId xmlns:a16="http://schemas.microsoft.com/office/drawing/2014/main" val="1912330799"/>
                    </a:ext>
                  </a:extLst>
                </a:gridCol>
              </a:tblGrid>
              <a:tr h="989013">
                <a:tc>
                  <a:txBody>
                    <a:bodyPr/>
                    <a:lstStyle/>
                    <a:p>
                      <a:pPr algn="ctr"/>
                      <a:r>
                        <a:rPr lang="en-IN" sz="1800" b="1" dirty="0"/>
                        <a:t>Paper Details (Title, Year)</a:t>
                      </a:r>
                    </a:p>
                  </a:txBody>
                  <a:tcPr anchor="ctr"/>
                </a:tc>
                <a:tc>
                  <a:txBody>
                    <a:bodyPr/>
                    <a:lstStyle/>
                    <a:p>
                      <a:pPr algn="ctr"/>
                      <a:r>
                        <a:rPr lang="en-IN" sz="1800" b="1"/>
                        <a:t>Approach</a:t>
                      </a:r>
                    </a:p>
                  </a:txBody>
                  <a:tcPr anchor="ctr"/>
                </a:tc>
                <a:tc>
                  <a:txBody>
                    <a:bodyPr/>
                    <a:lstStyle/>
                    <a:p>
                      <a:pPr algn="ctr"/>
                      <a:r>
                        <a:rPr lang="en-IN" sz="1800" b="1" dirty="0"/>
                        <a:t>Result Analysis</a:t>
                      </a:r>
                    </a:p>
                  </a:txBody>
                  <a:tcPr anchor="ctr"/>
                </a:tc>
                <a:tc>
                  <a:txBody>
                    <a:bodyPr/>
                    <a:lstStyle/>
                    <a:p>
                      <a:pPr algn="ctr"/>
                      <a:r>
                        <a:rPr lang="en-IN" sz="1800" b="1" dirty="0"/>
                        <a:t>Gaps / Challenges</a:t>
                      </a:r>
                    </a:p>
                  </a:txBody>
                  <a:tcPr anchor="ctr"/>
                </a:tc>
                <a:extLst>
                  <a:ext uri="{0D108BD9-81ED-4DB2-BD59-A6C34878D82A}">
                    <a16:rowId xmlns:a16="http://schemas.microsoft.com/office/drawing/2014/main" val="2862784950"/>
                  </a:ext>
                </a:extLst>
              </a:tr>
              <a:tr h="989013">
                <a:tc>
                  <a:txBody>
                    <a:bodyPr/>
                    <a:lstStyle/>
                    <a:p>
                      <a:pPr algn="ctr"/>
                      <a:r>
                        <a:rPr lang="en-IN" sz="1800" b="0"/>
                        <a:t>AI-based CCTV System (2021)</a:t>
                      </a:r>
                    </a:p>
                  </a:txBody>
                  <a:tcPr anchor="ctr"/>
                </a:tc>
                <a:tc>
                  <a:txBody>
                    <a:bodyPr/>
                    <a:lstStyle/>
                    <a:p>
                      <a:pPr algn="ctr"/>
                      <a:r>
                        <a:rPr lang="en-IN" sz="1800" b="0"/>
                        <a:t>Cloud-based object detection</a:t>
                      </a:r>
                    </a:p>
                  </a:txBody>
                  <a:tcPr anchor="ctr"/>
                </a:tc>
                <a:tc>
                  <a:txBody>
                    <a:bodyPr/>
                    <a:lstStyle/>
                    <a:p>
                      <a:pPr algn="ctr"/>
                      <a:r>
                        <a:rPr lang="en-IN" sz="1800" b="0"/>
                        <a:t>Good accuracy</a:t>
                      </a:r>
                    </a:p>
                  </a:txBody>
                  <a:tcPr anchor="ctr"/>
                </a:tc>
                <a:tc>
                  <a:txBody>
                    <a:bodyPr/>
                    <a:lstStyle/>
                    <a:p>
                      <a:pPr algn="ctr"/>
                      <a:r>
                        <a:rPr lang="en-IN" sz="1800" b="0"/>
                        <a:t>High cost, internet dependency</a:t>
                      </a:r>
                    </a:p>
                  </a:txBody>
                  <a:tcPr anchor="ctr"/>
                </a:tc>
                <a:extLst>
                  <a:ext uri="{0D108BD9-81ED-4DB2-BD59-A6C34878D82A}">
                    <a16:rowId xmlns:a16="http://schemas.microsoft.com/office/drawing/2014/main" val="3027725122"/>
                  </a:ext>
                </a:extLst>
              </a:tr>
              <a:tr h="989013">
                <a:tc>
                  <a:txBody>
                    <a:bodyPr/>
                    <a:lstStyle/>
                    <a:p>
                      <a:pPr algn="ctr"/>
                      <a:r>
                        <a:rPr lang="en-IN" sz="1800" b="0"/>
                        <a:t>Motion Sensor Alarm (2020)</a:t>
                      </a:r>
                    </a:p>
                  </a:txBody>
                  <a:tcPr anchor="ctr"/>
                </a:tc>
                <a:tc>
                  <a:txBody>
                    <a:bodyPr/>
                    <a:lstStyle/>
                    <a:p>
                      <a:pPr algn="ctr"/>
                      <a:r>
                        <a:rPr lang="en-IN" sz="1800" b="0"/>
                        <a:t>PIR / Radar sensing</a:t>
                      </a:r>
                    </a:p>
                  </a:txBody>
                  <a:tcPr anchor="ctr"/>
                </a:tc>
                <a:tc>
                  <a:txBody>
                    <a:bodyPr/>
                    <a:lstStyle/>
                    <a:p>
                      <a:pPr algn="ctr"/>
                      <a:r>
                        <a:rPr lang="en-IN" sz="1800" b="0"/>
                        <a:t>Fast detection</a:t>
                      </a:r>
                    </a:p>
                  </a:txBody>
                  <a:tcPr anchor="ctr"/>
                </a:tc>
                <a:tc>
                  <a:txBody>
                    <a:bodyPr/>
                    <a:lstStyle/>
                    <a:p>
                      <a:pPr algn="ctr"/>
                      <a:r>
                        <a:rPr lang="en-IN" sz="1800" b="0"/>
                        <a:t>Too many false alarms</a:t>
                      </a:r>
                    </a:p>
                  </a:txBody>
                  <a:tcPr anchor="ctr"/>
                </a:tc>
                <a:extLst>
                  <a:ext uri="{0D108BD9-81ED-4DB2-BD59-A6C34878D82A}">
                    <a16:rowId xmlns:a16="http://schemas.microsoft.com/office/drawing/2014/main" val="3202399555"/>
                  </a:ext>
                </a:extLst>
              </a:tr>
              <a:tr h="989013">
                <a:tc>
                  <a:txBody>
                    <a:bodyPr/>
                    <a:lstStyle/>
                    <a:p>
                      <a:pPr algn="ctr"/>
                      <a:r>
                        <a:rPr lang="en-IN" sz="1800" b="0"/>
                        <a:t>Smart Camera System (2022)</a:t>
                      </a:r>
                    </a:p>
                  </a:txBody>
                  <a:tcPr anchor="ctr"/>
                </a:tc>
                <a:tc>
                  <a:txBody>
                    <a:bodyPr/>
                    <a:lstStyle/>
                    <a:p>
                      <a:pPr algn="ctr"/>
                      <a:r>
                        <a:rPr lang="en-IN" sz="1800" b="0"/>
                        <a:t>Vision-only AI model</a:t>
                      </a:r>
                    </a:p>
                  </a:txBody>
                  <a:tcPr anchor="ctr"/>
                </a:tc>
                <a:tc>
                  <a:txBody>
                    <a:bodyPr/>
                    <a:lstStyle/>
                    <a:p>
                      <a:pPr algn="ctr"/>
                      <a:r>
                        <a:rPr lang="en-IN" sz="1800" b="0"/>
                        <a:t>Detects humans</a:t>
                      </a:r>
                    </a:p>
                  </a:txBody>
                  <a:tcPr anchor="ctr"/>
                </a:tc>
                <a:tc>
                  <a:txBody>
                    <a:bodyPr/>
                    <a:lstStyle/>
                    <a:p>
                      <a:pPr algn="ctr"/>
                      <a:r>
                        <a:rPr lang="en-US" sz="1800" b="0"/>
                        <a:t>Fails in low light, no sensor support</a:t>
                      </a:r>
                    </a:p>
                  </a:txBody>
                  <a:tcPr anchor="ctr"/>
                </a:tc>
                <a:extLst>
                  <a:ext uri="{0D108BD9-81ED-4DB2-BD59-A6C34878D82A}">
                    <a16:rowId xmlns:a16="http://schemas.microsoft.com/office/drawing/2014/main" val="3790439922"/>
                  </a:ext>
                </a:extLst>
              </a:tr>
              <a:tr h="989013">
                <a:tc>
                  <a:txBody>
                    <a:bodyPr/>
                    <a:lstStyle/>
                    <a:p>
                      <a:pPr algn="ctr"/>
                      <a:r>
                        <a:rPr lang="en-IN" sz="1800" b="0"/>
                        <a:t>IoT Surveillance (2023)</a:t>
                      </a:r>
                    </a:p>
                  </a:txBody>
                  <a:tcPr anchor="ctr"/>
                </a:tc>
                <a:tc>
                  <a:txBody>
                    <a:bodyPr/>
                    <a:lstStyle/>
                    <a:p>
                      <a:pPr algn="ctr"/>
                      <a:r>
                        <a:rPr lang="en-IN" sz="1800" b="0"/>
                        <a:t>Camera + Cloud + App</a:t>
                      </a:r>
                    </a:p>
                  </a:txBody>
                  <a:tcPr anchor="ctr"/>
                </a:tc>
                <a:tc>
                  <a:txBody>
                    <a:bodyPr/>
                    <a:lstStyle/>
                    <a:p>
                      <a:pPr algn="ctr"/>
                      <a:r>
                        <a:rPr lang="en-IN" sz="1800" b="0"/>
                        <a:t>Remote monitoring</a:t>
                      </a:r>
                    </a:p>
                  </a:txBody>
                  <a:tcPr anchor="ctr"/>
                </a:tc>
                <a:tc>
                  <a:txBody>
                    <a:bodyPr/>
                    <a:lstStyle/>
                    <a:p>
                      <a:pPr algn="ctr"/>
                      <a:r>
                        <a:rPr lang="en-IN" sz="1800" b="0" dirty="0"/>
                        <a:t>High latency, privacy risk</a:t>
                      </a:r>
                    </a:p>
                  </a:txBody>
                  <a:tcPr anchor="ctr"/>
                </a:tc>
                <a:extLst>
                  <a:ext uri="{0D108BD9-81ED-4DB2-BD59-A6C34878D82A}">
                    <a16:rowId xmlns:a16="http://schemas.microsoft.com/office/drawing/2014/main" val="3740921520"/>
                  </a:ext>
                </a:extLst>
              </a:tr>
            </a:tbl>
          </a:graphicData>
        </a:graphic>
      </p:graphicFrame>
    </p:spTree>
    <p:extLst>
      <p:ext uri="{BB962C8B-B14F-4D97-AF65-F5344CB8AC3E}">
        <p14:creationId xmlns:p14="http://schemas.microsoft.com/office/powerpoint/2010/main" val="3949896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6"/>
          <p:cNvSpPr txBox="1">
            <a:spLocks noGrp="1"/>
          </p:cNvSpPr>
          <p:nvPr>
            <p:ph type="title"/>
          </p:nvPr>
        </p:nvSpPr>
        <p:spPr>
          <a:xfrm>
            <a:off x="495300" y="274638"/>
            <a:ext cx="8915400" cy="850106"/>
          </a:xfrm>
          <a:prstGeom prst="rect">
            <a:avLst/>
          </a:prstGeom>
          <a:noFill/>
          <a:ln>
            <a:noFill/>
          </a:ln>
        </p:spPr>
        <p:txBody>
          <a:bodyPr spcFirstLastPara="1" wrap="square" lIns="91425" tIns="45700" rIns="91425" bIns="45700" anchor="t" anchorCtr="0">
            <a:noAutofit/>
          </a:bodyPr>
          <a:lstStyle/>
          <a:p>
            <a:r>
              <a:rPr lang="en-US" sz="3600" b="1" dirty="0">
                <a:solidFill>
                  <a:srgbClr val="0070C0"/>
                </a:solidFill>
              </a:rPr>
              <a:t>Proposed System</a:t>
            </a:r>
            <a:endParaRPr lang="en-IN" sz="3600" b="1" dirty="0">
              <a:solidFill>
                <a:srgbClr val="0070C0"/>
              </a:solidFill>
            </a:endParaRPr>
          </a:p>
        </p:txBody>
      </p:sp>
      <p:sp>
        <p:nvSpPr>
          <p:cNvPr id="126" name="Google Shape;126;p6"/>
          <p:cNvSpPr txBox="1">
            <a:spLocks noGrp="1"/>
          </p:cNvSpPr>
          <p:nvPr>
            <p:ph idx="1"/>
          </p:nvPr>
        </p:nvSpPr>
        <p:spPr>
          <a:xfrm>
            <a:off x="495300" y="1124745"/>
            <a:ext cx="8915400" cy="5001420"/>
          </a:xfrm>
          <a:prstGeom prst="rect">
            <a:avLst/>
          </a:prstGeom>
          <a:noFill/>
          <a:ln>
            <a:noFill/>
          </a:ln>
        </p:spPr>
        <p:txBody>
          <a:bodyPr spcFirstLastPara="1" wrap="square" lIns="91425" tIns="45700" rIns="91425" bIns="45700" anchor="t" anchorCtr="0">
            <a:noAutofit/>
          </a:bodyPr>
          <a:lstStyle/>
          <a:p>
            <a:r>
              <a:rPr lang="en-IN" sz="2200" b="1" dirty="0"/>
              <a:t>Proposed System – SmartEye</a:t>
            </a:r>
            <a:endParaRPr lang="en-IN" sz="2200" dirty="0"/>
          </a:p>
          <a:p>
            <a:pPr marL="482600" lvl="1" indent="0">
              <a:buNone/>
            </a:pPr>
            <a:r>
              <a:rPr lang="en-IN" sz="2000" dirty="0"/>
              <a:t>SmartEye is an AI-based surveillance system that detects intruders in real time using a camera and motion sensor. It runs fully on the device, giving fast alerts, better privacy, and fewer false alarms.</a:t>
            </a:r>
          </a:p>
          <a:p>
            <a:pPr marL="482600" lvl="1" indent="0">
              <a:buNone/>
            </a:pPr>
            <a:endParaRPr lang="en-IN" sz="1800" dirty="0"/>
          </a:p>
          <a:p>
            <a:pPr marL="482600" lvl="1" indent="0">
              <a:buNone/>
            </a:pPr>
            <a:endParaRPr lang="en-IN" sz="1800" dirty="0"/>
          </a:p>
          <a:p>
            <a:r>
              <a:rPr lang="en-IN" sz="2200" b="1" dirty="0"/>
              <a:t>Key Features / Novelty:</a:t>
            </a:r>
            <a:endParaRPr lang="en-IN" sz="2200" dirty="0"/>
          </a:p>
          <a:p>
            <a:pPr lvl="1">
              <a:buFont typeface="Arial" panose="020B0604020202020204" pitchFamily="34" charset="0"/>
              <a:buChar char="•"/>
            </a:pPr>
            <a:r>
              <a:rPr lang="en-IN" sz="2000" dirty="0"/>
              <a:t>Real-time object detection</a:t>
            </a:r>
          </a:p>
          <a:p>
            <a:pPr lvl="1">
              <a:buFont typeface="Arial" panose="020B0604020202020204" pitchFamily="34" charset="0"/>
              <a:buChar char="•"/>
            </a:pPr>
            <a:r>
              <a:rPr lang="en-IN" sz="2000" dirty="0"/>
              <a:t>Camera + sensor fusion</a:t>
            </a:r>
          </a:p>
          <a:p>
            <a:pPr lvl="1">
              <a:buFont typeface="Arial" panose="020B0604020202020204" pitchFamily="34" charset="0"/>
              <a:buChar char="•"/>
            </a:pPr>
            <a:r>
              <a:rPr lang="en-IN" sz="2000" dirty="0"/>
              <a:t>On-device AI (no cloud)</a:t>
            </a:r>
          </a:p>
          <a:p>
            <a:pPr lvl="1">
              <a:buFont typeface="Arial" panose="020B0604020202020204" pitchFamily="34" charset="0"/>
              <a:buChar char="•"/>
            </a:pPr>
            <a:r>
              <a:rPr lang="en-IN" sz="2000" dirty="0"/>
              <a:t>Low-cost and low power</a:t>
            </a:r>
          </a:p>
          <a:p>
            <a:pPr lvl="1">
              <a:buFont typeface="Arial" panose="020B0604020202020204" pitchFamily="34" charset="0"/>
              <a:buChar char="•"/>
            </a:pPr>
            <a:r>
              <a:rPr lang="en-IN" sz="2000" dirty="0"/>
              <a:t>Instant alert system</a:t>
            </a:r>
          </a:p>
          <a:p>
            <a:pPr marL="25400" lvl="0" indent="0">
              <a:buNone/>
            </a:pPr>
            <a:endParaRPr lang="en-IN"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6"/>
          <p:cNvSpPr txBox="1">
            <a:spLocks noGrp="1"/>
          </p:cNvSpPr>
          <p:nvPr>
            <p:ph type="title"/>
          </p:nvPr>
        </p:nvSpPr>
        <p:spPr>
          <a:xfrm>
            <a:off x="495300" y="274638"/>
            <a:ext cx="8915400" cy="850106"/>
          </a:xfrm>
          <a:prstGeom prst="rect">
            <a:avLst/>
          </a:prstGeom>
          <a:noFill/>
          <a:ln>
            <a:noFill/>
          </a:ln>
        </p:spPr>
        <p:txBody>
          <a:bodyPr spcFirstLastPara="1" wrap="square" lIns="91425" tIns="45700" rIns="91425" bIns="45700" anchor="t" anchorCtr="0">
            <a:noAutofit/>
          </a:bodyPr>
          <a:lstStyle/>
          <a:p>
            <a:r>
              <a:rPr lang="en-US" sz="3600" b="1" dirty="0">
                <a:solidFill>
                  <a:srgbClr val="0070C0"/>
                </a:solidFill>
              </a:rPr>
              <a:t>Proposed System</a:t>
            </a:r>
            <a:endParaRPr lang="en-IN" sz="3600" b="1" dirty="0">
              <a:solidFill>
                <a:srgbClr val="0070C0"/>
              </a:solidFill>
            </a:endParaRPr>
          </a:p>
        </p:txBody>
      </p:sp>
      <p:sp>
        <p:nvSpPr>
          <p:cNvPr id="126" name="Google Shape;126;p6"/>
          <p:cNvSpPr txBox="1">
            <a:spLocks noGrp="1"/>
          </p:cNvSpPr>
          <p:nvPr>
            <p:ph idx="1"/>
          </p:nvPr>
        </p:nvSpPr>
        <p:spPr>
          <a:xfrm>
            <a:off x="495300" y="1124745"/>
            <a:ext cx="8915400" cy="5001420"/>
          </a:xfrm>
          <a:prstGeom prst="rect">
            <a:avLst/>
          </a:prstGeom>
          <a:noFill/>
          <a:ln>
            <a:noFill/>
          </a:ln>
        </p:spPr>
        <p:txBody>
          <a:bodyPr spcFirstLastPara="1" wrap="square" lIns="91425" tIns="45700" rIns="91425" bIns="45700" anchor="t" anchorCtr="0">
            <a:noAutofit/>
          </a:bodyPr>
          <a:lstStyle/>
          <a:p>
            <a:r>
              <a:rPr lang="en-IN" sz="2200" b="1" dirty="0"/>
              <a:t>Methodology:</a:t>
            </a:r>
            <a:endParaRPr lang="en-IN" sz="2200" dirty="0"/>
          </a:p>
          <a:p>
            <a:pPr lvl="1">
              <a:buFont typeface="Arial" panose="020B0604020202020204" pitchFamily="34" charset="0"/>
              <a:buChar char="•"/>
            </a:pPr>
            <a:r>
              <a:rPr lang="en-IN" sz="2000" dirty="0"/>
              <a:t>YOLOv8 for object detection</a:t>
            </a:r>
          </a:p>
          <a:p>
            <a:pPr lvl="1">
              <a:buFont typeface="Arial" panose="020B0604020202020204" pitchFamily="34" charset="0"/>
              <a:buChar char="•"/>
            </a:pPr>
            <a:r>
              <a:rPr lang="en-IN" sz="2000" dirty="0"/>
              <a:t>Radar sensor for motion validation</a:t>
            </a:r>
          </a:p>
          <a:p>
            <a:pPr lvl="1">
              <a:buFont typeface="Arial" panose="020B0604020202020204" pitchFamily="34" charset="0"/>
              <a:buChar char="•"/>
            </a:pPr>
            <a:r>
              <a:rPr lang="en-IN" sz="2000" dirty="0"/>
              <a:t>Edge computing on Raspberry Pi</a:t>
            </a:r>
          </a:p>
          <a:p>
            <a:pPr lvl="1">
              <a:buFont typeface="Arial" panose="020B0604020202020204" pitchFamily="34" charset="0"/>
              <a:buChar char="•"/>
            </a:pPr>
            <a:r>
              <a:rPr lang="en-IN" sz="2000" dirty="0"/>
              <a:t>Telegram Bot API for alert communication</a:t>
            </a:r>
          </a:p>
          <a:p>
            <a:pPr lvl="0"/>
            <a:endParaRPr lang="en-IN" sz="2200" dirty="0"/>
          </a:p>
        </p:txBody>
      </p:sp>
    </p:spTree>
    <p:extLst>
      <p:ext uri="{BB962C8B-B14F-4D97-AF65-F5344CB8AC3E}">
        <p14:creationId xmlns:p14="http://schemas.microsoft.com/office/powerpoint/2010/main" val="2236994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rgbClr val="0070C0"/>
                </a:solidFill>
              </a:rPr>
              <a:t>System Architecture/Block Diagram</a:t>
            </a:r>
          </a:p>
        </p:txBody>
      </p:sp>
      <p:sp>
        <p:nvSpPr>
          <p:cNvPr id="1026" name="AutoShape 2" descr="Proposed framework for brain tumor dete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Proposed framework for brain tumor dete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2515AAB3-6C5F-4078-8052-E1984307E681}"/>
              </a:ext>
            </a:extLst>
          </p:cNvPr>
          <p:cNvPicPr>
            <a:picLocks noChangeAspect="1"/>
          </p:cNvPicPr>
          <p:nvPr/>
        </p:nvPicPr>
        <p:blipFill rotWithShape="1">
          <a:blip r:embed="rId2"/>
          <a:srcRect b="19362"/>
          <a:stretch/>
        </p:blipFill>
        <p:spPr>
          <a:xfrm>
            <a:off x="2763183" y="1195419"/>
            <a:ext cx="4379633" cy="52974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4D835-E91A-E55A-4C4D-8A5F7A6C012D}"/>
              </a:ext>
            </a:extLst>
          </p:cNvPr>
          <p:cNvSpPr>
            <a:spLocks noGrp="1"/>
          </p:cNvSpPr>
          <p:nvPr>
            <p:ph type="title"/>
          </p:nvPr>
        </p:nvSpPr>
        <p:spPr>
          <a:xfrm>
            <a:off x="495300" y="274638"/>
            <a:ext cx="8915400" cy="610733"/>
          </a:xfrm>
        </p:spPr>
        <p:txBody>
          <a:bodyPr/>
          <a:lstStyle/>
          <a:p>
            <a:r>
              <a:rPr lang="en-US" sz="3600" b="1" dirty="0">
                <a:solidFill>
                  <a:srgbClr val="0070C0"/>
                </a:solidFill>
              </a:rPr>
              <a:t>Implementation</a:t>
            </a:r>
            <a:endParaRPr lang="en-IN" sz="3600" b="1" dirty="0">
              <a:solidFill>
                <a:srgbClr val="0070C0"/>
              </a:solidFill>
            </a:endParaRPr>
          </a:p>
        </p:txBody>
      </p:sp>
      <p:sp>
        <p:nvSpPr>
          <p:cNvPr id="3" name="Text Placeholder 2">
            <a:extLst>
              <a:ext uri="{FF2B5EF4-FFF2-40B4-BE49-F238E27FC236}">
                <a16:creationId xmlns:a16="http://schemas.microsoft.com/office/drawing/2014/main" id="{B279C7C2-6ED3-6C5A-3D69-3D16C6DAE1A7}"/>
              </a:ext>
            </a:extLst>
          </p:cNvPr>
          <p:cNvSpPr>
            <a:spLocks noGrp="1"/>
          </p:cNvSpPr>
          <p:nvPr>
            <p:ph idx="1"/>
          </p:nvPr>
        </p:nvSpPr>
        <p:spPr>
          <a:xfrm>
            <a:off x="495300" y="990601"/>
            <a:ext cx="8915400" cy="4999652"/>
          </a:xfrm>
        </p:spPr>
        <p:txBody>
          <a:bodyPr/>
          <a:lstStyle/>
          <a:p>
            <a:pPr algn="just"/>
            <a:r>
              <a:rPr lang="en-IN" sz="2200" b="1" dirty="0"/>
              <a:t>Implementation</a:t>
            </a:r>
            <a:endParaRPr lang="en-IN" sz="2200" dirty="0"/>
          </a:p>
          <a:p>
            <a:pPr marL="482600" lvl="1" indent="0">
              <a:buNone/>
            </a:pPr>
            <a:r>
              <a:rPr lang="en-IN" sz="2400" b="1" dirty="0"/>
              <a:t>Tools, Technologies, Frameworks:</a:t>
            </a:r>
            <a:endParaRPr lang="en-IN" sz="2400" dirty="0"/>
          </a:p>
          <a:p>
            <a:pPr marL="825500" lvl="1" indent="-342900"/>
            <a:r>
              <a:rPr lang="en-IN" sz="2400" dirty="0"/>
              <a:t>Python, OpenCV</a:t>
            </a:r>
          </a:p>
          <a:p>
            <a:pPr marL="825500" lvl="1" indent="-342900"/>
            <a:r>
              <a:rPr lang="en-IN" sz="2400" dirty="0"/>
              <a:t>YOLOv8 (</a:t>
            </a:r>
            <a:r>
              <a:rPr lang="en-IN" sz="2400" dirty="0" err="1"/>
              <a:t>TinyML</a:t>
            </a:r>
            <a:r>
              <a:rPr lang="en-IN" sz="2400" dirty="0"/>
              <a:t> model)</a:t>
            </a:r>
          </a:p>
          <a:p>
            <a:pPr marL="825500" lvl="1" indent="-342900"/>
            <a:r>
              <a:rPr lang="en-IN" sz="2400" dirty="0"/>
              <a:t>Raspberry Pi 5, Arduino Nano</a:t>
            </a:r>
          </a:p>
          <a:p>
            <a:pPr marL="825500" lvl="1" indent="-342900"/>
            <a:r>
              <a:rPr lang="en-IN" sz="2400" dirty="0"/>
              <a:t>Camera Module, Radar Sensor</a:t>
            </a:r>
          </a:p>
          <a:p>
            <a:pPr marL="825500" lvl="1" indent="-342900"/>
            <a:r>
              <a:rPr lang="en-IN" sz="2400" dirty="0"/>
              <a:t>Telegram Bot API, Flask Web Dashboard</a:t>
            </a:r>
          </a:p>
          <a:p>
            <a:pPr marL="482600" lvl="1" indent="0">
              <a:buNone/>
            </a:pPr>
            <a:endParaRPr lang="en-IN" sz="2400" b="1" dirty="0"/>
          </a:p>
          <a:p>
            <a:pPr marL="482600" lvl="1" indent="0">
              <a:buNone/>
            </a:pPr>
            <a:r>
              <a:rPr lang="en-IN" sz="2400" b="1" dirty="0"/>
              <a:t>Dataset:</a:t>
            </a:r>
            <a:endParaRPr lang="en-IN" sz="2400" dirty="0"/>
          </a:p>
          <a:p>
            <a:pPr marL="825500" lvl="1" indent="-342900"/>
            <a:r>
              <a:rPr lang="en-IN" sz="2400" dirty="0"/>
              <a:t>COCO pre-trained dataset (for object detection)</a:t>
            </a:r>
          </a:p>
          <a:p>
            <a:pPr marL="825500" lvl="1" indent="-342900"/>
            <a:r>
              <a:rPr lang="en-IN" sz="2400" dirty="0"/>
              <a:t>Live camera video for real-time testing</a:t>
            </a:r>
          </a:p>
          <a:p>
            <a:pPr marL="25400" indent="0">
              <a:buNone/>
            </a:pPr>
            <a:endParaRPr lang="en-IN" sz="1200" b="1" dirty="0"/>
          </a:p>
          <a:p>
            <a:pPr marL="25400" indent="0">
              <a:buNone/>
            </a:pPr>
            <a:endParaRPr lang="en-US" sz="2000" dirty="0"/>
          </a:p>
        </p:txBody>
      </p:sp>
    </p:spTree>
    <p:extLst>
      <p:ext uri="{BB962C8B-B14F-4D97-AF65-F5344CB8AC3E}">
        <p14:creationId xmlns:p14="http://schemas.microsoft.com/office/powerpoint/2010/main" val="4079718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4D835-E91A-E55A-4C4D-8A5F7A6C012D}"/>
              </a:ext>
            </a:extLst>
          </p:cNvPr>
          <p:cNvSpPr>
            <a:spLocks noGrp="1"/>
          </p:cNvSpPr>
          <p:nvPr>
            <p:ph type="title"/>
          </p:nvPr>
        </p:nvSpPr>
        <p:spPr>
          <a:xfrm>
            <a:off x="495300" y="274638"/>
            <a:ext cx="8915400" cy="610733"/>
          </a:xfrm>
        </p:spPr>
        <p:txBody>
          <a:bodyPr/>
          <a:lstStyle/>
          <a:p>
            <a:r>
              <a:rPr lang="en-US" sz="3600" b="1" dirty="0">
                <a:solidFill>
                  <a:srgbClr val="0070C0"/>
                </a:solidFill>
              </a:rPr>
              <a:t>Implementation</a:t>
            </a:r>
            <a:endParaRPr lang="en-IN" sz="3600" b="1" dirty="0">
              <a:solidFill>
                <a:srgbClr val="0070C0"/>
              </a:solidFill>
            </a:endParaRPr>
          </a:p>
        </p:txBody>
      </p:sp>
      <p:sp>
        <p:nvSpPr>
          <p:cNvPr id="3" name="Text Placeholder 2">
            <a:extLst>
              <a:ext uri="{FF2B5EF4-FFF2-40B4-BE49-F238E27FC236}">
                <a16:creationId xmlns:a16="http://schemas.microsoft.com/office/drawing/2014/main" id="{B279C7C2-6ED3-6C5A-3D69-3D16C6DAE1A7}"/>
              </a:ext>
            </a:extLst>
          </p:cNvPr>
          <p:cNvSpPr>
            <a:spLocks noGrp="1"/>
          </p:cNvSpPr>
          <p:nvPr>
            <p:ph idx="1"/>
          </p:nvPr>
        </p:nvSpPr>
        <p:spPr>
          <a:xfrm>
            <a:off x="495300" y="990601"/>
            <a:ext cx="8915400" cy="4525963"/>
          </a:xfrm>
        </p:spPr>
        <p:txBody>
          <a:bodyPr/>
          <a:lstStyle/>
          <a:p>
            <a:pPr marL="482600" lvl="1" indent="0">
              <a:buNone/>
            </a:pPr>
            <a:r>
              <a:rPr lang="en-IN" sz="2400" b="1" dirty="0"/>
              <a:t>Key Steps:</a:t>
            </a:r>
            <a:endParaRPr lang="en-IN" sz="2400" dirty="0"/>
          </a:p>
          <a:p>
            <a:pPr marL="768350" lvl="1" indent="-285750"/>
            <a:r>
              <a:rPr lang="en-IN" sz="2400" dirty="0"/>
              <a:t>Capture video from camera</a:t>
            </a:r>
          </a:p>
          <a:p>
            <a:pPr marL="768350" lvl="1" indent="-285750"/>
            <a:r>
              <a:rPr lang="en-IN" sz="2400" dirty="0"/>
              <a:t>Run YOLOv8 for object detection</a:t>
            </a:r>
          </a:p>
          <a:p>
            <a:pPr marL="768350" lvl="1" indent="-285750"/>
            <a:r>
              <a:rPr lang="en-IN" sz="2400" dirty="0"/>
              <a:t>Fuse AI and sensor output</a:t>
            </a:r>
          </a:p>
          <a:p>
            <a:pPr marL="768350" lvl="1" indent="-285750"/>
            <a:r>
              <a:rPr lang="en-IN" sz="2400" dirty="0"/>
              <a:t>Validate intrusion using sliding window</a:t>
            </a:r>
          </a:p>
          <a:p>
            <a:pPr marL="768350" lvl="1" indent="-285750"/>
            <a:r>
              <a:rPr lang="en-IN" sz="2400" dirty="0"/>
              <a:t>Send alert using Telegram Bot API and display on dashboard</a:t>
            </a:r>
          </a:p>
          <a:p>
            <a:pPr marL="25400" indent="0">
              <a:buNone/>
            </a:pPr>
            <a:endParaRPr lang="en-US" sz="2000" dirty="0"/>
          </a:p>
        </p:txBody>
      </p:sp>
    </p:spTree>
    <p:extLst>
      <p:ext uri="{BB962C8B-B14F-4D97-AF65-F5344CB8AC3E}">
        <p14:creationId xmlns:p14="http://schemas.microsoft.com/office/powerpoint/2010/main" val="1033518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4D835-E91A-E55A-4C4D-8A5F7A6C012D}"/>
              </a:ext>
            </a:extLst>
          </p:cNvPr>
          <p:cNvSpPr>
            <a:spLocks noGrp="1"/>
          </p:cNvSpPr>
          <p:nvPr>
            <p:ph type="title"/>
          </p:nvPr>
        </p:nvSpPr>
        <p:spPr>
          <a:xfrm>
            <a:off x="495300" y="274638"/>
            <a:ext cx="8915400" cy="610733"/>
          </a:xfrm>
        </p:spPr>
        <p:txBody>
          <a:bodyPr/>
          <a:lstStyle/>
          <a:p>
            <a:r>
              <a:rPr lang="en-US" sz="3600" b="1" dirty="0">
                <a:solidFill>
                  <a:srgbClr val="0070C0"/>
                </a:solidFill>
              </a:rPr>
              <a:t>Testing Approach</a:t>
            </a:r>
            <a:endParaRPr lang="en-IN" sz="3600" b="1" dirty="0">
              <a:solidFill>
                <a:srgbClr val="0070C0"/>
              </a:solidFill>
            </a:endParaRPr>
          </a:p>
        </p:txBody>
      </p:sp>
      <p:sp>
        <p:nvSpPr>
          <p:cNvPr id="3" name="Text Placeholder 2">
            <a:extLst>
              <a:ext uri="{FF2B5EF4-FFF2-40B4-BE49-F238E27FC236}">
                <a16:creationId xmlns:a16="http://schemas.microsoft.com/office/drawing/2014/main" id="{B279C7C2-6ED3-6C5A-3D69-3D16C6DAE1A7}"/>
              </a:ext>
            </a:extLst>
          </p:cNvPr>
          <p:cNvSpPr>
            <a:spLocks noGrp="1"/>
          </p:cNvSpPr>
          <p:nvPr>
            <p:ph idx="1"/>
          </p:nvPr>
        </p:nvSpPr>
        <p:spPr>
          <a:xfrm>
            <a:off x="495300" y="990601"/>
            <a:ext cx="8915400" cy="5503505"/>
          </a:xfrm>
        </p:spPr>
        <p:txBody>
          <a:bodyPr/>
          <a:lstStyle/>
          <a:p>
            <a:r>
              <a:rPr lang="en-US" sz="2400" b="1" dirty="0"/>
              <a:t>Testing and Evaluation</a:t>
            </a:r>
            <a:endParaRPr lang="en-US" sz="2400" dirty="0"/>
          </a:p>
          <a:p>
            <a:pPr marL="482600" lvl="1" indent="0">
              <a:buNone/>
            </a:pPr>
            <a:r>
              <a:rPr lang="en-US" sz="2400" b="1" dirty="0"/>
              <a:t>Type of Testing:</a:t>
            </a:r>
            <a:endParaRPr lang="en-US" sz="2400" dirty="0"/>
          </a:p>
          <a:p>
            <a:pPr marL="825500" lvl="1" indent="-342900"/>
            <a:r>
              <a:rPr lang="en-US" sz="2400" dirty="0"/>
              <a:t>Unit Testing (camera, sensor, model)</a:t>
            </a:r>
          </a:p>
          <a:p>
            <a:pPr marL="825500" lvl="1" indent="-342900"/>
            <a:r>
              <a:rPr lang="en-US" sz="2400" dirty="0"/>
              <a:t>Integration Testing (AI + sensor + alert)</a:t>
            </a:r>
          </a:p>
          <a:p>
            <a:pPr marL="825500" lvl="1" indent="-342900"/>
            <a:r>
              <a:rPr lang="en-US" sz="2400" dirty="0"/>
              <a:t>Performance Testing (speed, accuracy, latency)</a:t>
            </a:r>
          </a:p>
          <a:p>
            <a:pPr marL="482600" lvl="1" indent="0">
              <a:buNone/>
            </a:pPr>
            <a:endParaRPr lang="en-US" sz="2400" b="1" dirty="0"/>
          </a:p>
          <a:p>
            <a:pPr marL="482600" lvl="1" indent="0">
              <a:buNone/>
            </a:pPr>
            <a:r>
              <a:rPr lang="en-US" sz="2400" b="1" dirty="0"/>
              <a:t>Test Scenarios:</a:t>
            </a:r>
            <a:endParaRPr lang="en-US" sz="2400" dirty="0"/>
          </a:p>
          <a:p>
            <a:pPr marL="825500" lvl="1" indent="-342900"/>
            <a:r>
              <a:rPr lang="en-US" sz="2400" dirty="0"/>
              <a:t>Human entry</a:t>
            </a:r>
          </a:p>
          <a:p>
            <a:pPr marL="825500" lvl="1" indent="-342900"/>
            <a:r>
              <a:rPr lang="en-US" sz="2400" dirty="0"/>
              <a:t>Animal movement</a:t>
            </a:r>
          </a:p>
          <a:p>
            <a:pPr marL="825500" lvl="1" indent="-342900"/>
            <a:r>
              <a:rPr lang="en-US" sz="2400" dirty="0"/>
              <a:t>No-motion case</a:t>
            </a:r>
          </a:p>
          <a:p>
            <a:pPr marL="825500" lvl="1" indent="-342900"/>
            <a:r>
              <a:rPr lang="en-US" sz="2400" dirty="0"/>
              <a:t>Low-light condition</a:t>
            </a:r>
          </a:p>
          <a:p>
            <a:pPr marL="825500" lvl="1" indent="-342900"/>
            <a:r>
              <a:rPr lang="en-US" sz="2400" dirty="0"/>
              <a:t>Repeated movement</a:t>
            </a:r>
          </a:p>
          <a:p>
            <a:pPr marL="25400" indent="0">
              <a:buNone/>
            </a:pPr>
            <a:endParaRPr lang="en-US" sz="2000" dirty="0"/>
          </a:p>
        </p:txBody>
      </p:sp>
    </p:spTree>
    <p:extLst>
      <p:ext uri="{BB962C8B-B14F-4D97-AF65-F5344CB8AC3E}">
        <p14:creationId xmlns:p14="http://schemas.microsoft.com/office/powerpoint/2010/main" val="2695685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4D835-E91A-E55A-4C4D-8A5F7A6C012D}"/>
              </a:ext>
            </a:extLst>
          </p:cNvPr>
          <p:cNvSpPr>
            <a:spLocks noGrp="1"/>
          </p:cNvSpPr>
          <p:nvPr>
            <p:ph type="title"/>
          </p:nvPr>
        </p:nvSpPr>
        <p:spPr>
          <a:xfrm>
            <a:off x="495300" y="274638"/>
            <a:ext cx="8915400" cy="610733"/>
          </a:xfrm>
        </p:spPr>
        <p:txBody>
          <a:bodyPr/>
          <a:lstStyle/>
          <a:p>
            <a:r>
              <a:rPr lang="en-US" sz="3600" b="1" dirty="0">
                <a:solidFill>
                  <a:srgbClr val="0070C0"/>
                </a:solidFill>
              </a:rPr>
              <a:t>Testing Approach</a:t>
            </a:r>
            <a:endParaRPr lang="en-IN" sz="3600" b="1" dirty="0">
              <a:solidFill>
                <a:srgbClr val="0070C0"/>
              </a:solidFill>
            </a:endParaRPr>
          </a:p>
        </p:txBody>
      </p:sp>
      <p:sp>
        <p:nvSpPr>
          <p:cNvPr id="3" name="Text Placeholder 2">
            <a:extLst>
              <a:ext uri="{FF2B5EF4-FFF2-40B4-BE49-F238E27FC236}">
                <a16:creationId xmlns:a16="http://schemas.microsoft.com/office/drawing/2014/main" id="{B279C7C2-6ED3-6C5A-3D69-3D16C6DAE1A7}"/>
              </a:ext>
            </a:extLst>
          </p:cNvPr>
          <p:cNvSpPr>
            <a:spLocks noGrp="1"/>
          </p:cNvSpPr>
          <p:nvPr>
            <p:ph idx="1"/>
          </p:nvPr>
        </p:nvSpPr>
        <p:spPr>
          <a:xfrm>
            <a:off x="495300" y="990601"/>
            <a:ext cx="8915400" cy="5503505"/>
          </a:xfrm>
        </p:spPr>
        <p:txBody>
          <a:bodyPr/>
          <a:lstStyle/>
          <a:p>
            <a:pPr marL="482600" lvl="1" indent="0">
              <a:buNone/>
            </a:pPr>
            <a:r>
              <a:rPr lang="en-US" sz="2400" b="1" dirty="0"/>
              <a:t>Metrics Used:</a:t>
            </a:r>
            <a:endParaRPr lang="en-US" sz="2400" dirty="0"/>
          </a:p>
          <a:p>
            <a:pPr marL="825500" lvl="1" indent="-342900"/>
            <a:r>
              <a:rPr lang="en-US" sz="2400" dirty="0"/>
              <a:t>Detection Accuracy</a:t>
            </a:r>
          </a:p>
          <a:p>
            <a:pPr marL="825500" lvl="1" indent="-342900"/>
            <a:r>
              <a:rPr lang="en-US" sz="2400" dirty="0"/>
              <a:t>False Alarm Rate</a:t>
            </a:r>
          </a:p>
          <a:p>
            <a:pPr marL="825500" lvl="1" indent="-342900"/>
            <a:r>
              <a:rPr lang="en-US" sz="2400" dirty="0"/>
              <a:t>Latency (</a:t>
            </a:r>
            <a:r>
              <a:rPr lang="en-US" sz="2400" dirty="0" err="1"/>
              <a:t>ms</a:t>
            </a:r>
            <a:r>
              <a:rPr lang="en-US" sz="2400" dirty="0"/>
              <a:t>)</a:t>
            </a:r>
          </a:p>
          <a:p>
            <a:pPr marL="825500" lvl="1" indent="-342900"/>
            <a:r>
              <a:rPr lang="en-US" sz="2400" dirty="0"/>
              <a:t>FPS</a:t>
            </a:r>
          </a:p>
          <a:p>
            <a:pPr marL="482600" lvl="1" indent="0">
              <a:buNone/>
            </a:pPr>
            <a:endParaRPr lang="en-US" sz="2400" b="1" dirty="0"/>
          </a:p>
          <a:p>
            <a:pPr marL="482600" lvl="1" indent="0">
              <a:buNone/>
            </a:pPr>
            <a:r>
              <a:rPr lang="en-US" sz="2400" b="1" dirty="0"/>
              <a:t>Validation Method:</a:t>
            </a:r>
            <a:br>
              <a:rPr lang="en-US" sz="2400" dirty="0"/>
            </a:br>
            <a:r>
              <a:rPr lang="en-US" sz="2400" dirty="0"/>
              <a:t>Results from AI detection were verified using sensor confirmation and repeated frame analysis to ensure only true intrusions triggered alerts.</a:t>
            </a:r>
          </a:p>
          <a:p>
            <a:pPr marL="25400" indent="0">
              <a:buNone/>
            </a:pPr>
            <a:endParaRPr lang="en-US" sz="2000" dirty="0"/>
          </a:p>
        </p:txBody>
      </p:sp>
    </p:spTree>
    <p:extLst>
      <p:ext uri="{BB962C8B-B14F-4D97-AF65-F5344CB8AC3E}">
        <p14:creationId xmlns:p14="http://schemas.microsoft.com/office/powerpoint/2010/main" val="3387455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4D835-E91A-E55A-4C4D-8A5F7A6C012D}"/>
              </a:ext>
            </a:extLst>
          </p:cNvPr>
          <p:cNvSpPr>
            <a:spLocks noGrp="1"/>
          </p:cNvSpPr>
          <p:nvPr>
            <p:ph type="title"/>
          </p:nvPr>
        </p:nvSpPr>
        <p:spPr>
          <a:xfrm>
            <a:off x="495300" y="274638"/>
            <a:ext cx="8915400" cy="610733"/>
          </a:xfrm>
        </p:spPr>
        <p:txBody>
          <a:bodyPr/>
          <a:lstStyle/>
          <a:p>
            <a:r>
              <a:rPr lang="en-US" sz="3600" b="1" dirty="0">
                <a:solidFill>
                  <a:srgbClr val="0070C0"/>
                </a:solidFill>
              </a:rPr>
              <a:t>Testing Approach</a:t>
            </a:r>
            <a:endParaRPr lang="en-IN" sz="3600" b="1" dirty="0">
              <a:solidFill>
                <a:srgbClr val="0070C0"/>
              </a:solidFill>
            </a:endParaRPr>
          </a:p>
        </p:txBody>
      </p:sp>
      <p:pic>
        <p:nvPicPr>
          <p:cNvPr id="5" name="Picture 4">
            <a:extLst>
              <a:ext uri="{FF2B5EF4-FFF2-40B4-BE49-F238E27FC236}">
                <a16:creationId xmlns:a16="http://schemas.microsoft.com/office/drawing/2014/main" id="{F74177C5-D379-4500-8102-040438B95097}"/>
              </a:ext>
            </a:extLst>
          </p:cNvPr>
          <p:cNvPicPr>
            <a:picLocks noChangeAspect="1"/>
          </p:cNvPicPr>
          <p:nvPr/>
        </p:nvPicPr>
        <p:blipFill>
          <a:blip r:embed="rId2"/>
          <a:stretch>
            <a:fillRect/>
          </a:stretch>
        </p:blipFill>
        <p:spPr>
          <a:xfrm>
            <a:off x="1366337" y="1033128"/>
            <a:ext cx="7173326" cy="4791744"/>
          </a:xfrm>
          <a:prstGeom prst="rect">
            <a:avLst/>
          </a:prstGeom>
        </p:spPr>
      </p:pic>
    </p:spTree>
    <p:extLst>
      <p:ext uri="{BB962C8B-B14F-4D97-AF65-F5344CB8AC3E}">
        <p14:creationId xmlns:p14="http://schemas.microsoft.com/office/powerpoint/2010/main" val="4023309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4D835-E91A-E55A-4C4D-8A5F7A6C012D}"/>
              </a:ext>
            </a:extLst>
          </p:cNvPr>
          <p:cNvSpPr>
            <a:spLocks noGrp="1"/>
          </p:cNvSpPr>
          <p:nvPr>
            <p:ph type="title"/>
          </p:nvPr>
        </p:nvSpPr>
        <p:spPr>
          <a:xfrm>
            <a:off x="495300" y="274638"/>
            <a:ext cx="8915400" cy="610733"/>
          </a:xfrm>
        </p:spPr>
        <p:txBody>
          <a:bodyPr/>
          <a:lstStyle/>
          <a:p>
            <a:r>
              <a:rPr lang="en-US" sz="3600" b="1" dirty="0">
                <a:solidFill>
                  <a:srgbClr val="0070C0"/>
                </a:solidFill>
              </a:rPr>
              <a:t>Testing Approach</a:t>
            </a:r>
            <a:endParaRPr lang="en-IN" sz="3600" b="1" dirty="0">
              <a:solidFill>
                <a:srgbClr val="0070C0"/>
              </a:solidFill>
            </a:endParaRPr>
          </a:p>
        </p:txBody>
      </p:sp>
      <p:pic>
        <p:nvPicPr>
          <p:cNvPr id="4" name="Picture 3">
            <a:extLst>
              <a:ext uri="{FF2B5EF4-FFF2-40B4-BE49-F238E27FC236}">
                <a16:creationId xmlns:a16="http://schemas.microsoft.com/office/drawing/2014/main" id="{6DF110CD-CBA6-4BAA-9657-09ABB6BA37D5}"/>
              </a:ext>
            </a:extLst>
          </p:cNvPr>
          <p:cNvPicPr>
            <a:picLocks noChangeAspect="1"/>
          </p:cNvPicPr>
          <p:nvPr/>
        </p:nvPicPr>
        <p:blipFill>
          <a:blip r:embed="rId2"/>
          <a:stretch>
            <a:fillRect/>
          </a:stretch>
        </p:blipFill>
        <p:spPr>
          <a:xfrm>
            <a:off x="1047320" y="1576520"/>
            <a:ext cx="7811359" cy="3993856"/>
          </a:xfrm>
          <a:prstGeom prst="rect">
            <a:avLst/>
          </a:prstGeom>
        </p:spPr>
      </p:pic>
      <p:pic>
        <p:nvPicPr>
          <p:cNvPr id="5" name="Picture 4">
            <a:extLst>
              <a:ext uri="{FF2B5EF4-FFF2-40B4-BE49-F238E27FC236}">
                <a16:creationId xmlns:a16="http://schemas.microsoft.com/office/drawing/2014/main" id="{88C6225A-E6F9-41C4-9CBC-91D52C638842}"/>
              </a:ext>
            </a:extLst>
          </p:cNvPr>
          <p:cNvPicPr>
            <a:picLocks noChangeAspect="1"/>
          </p:cNvPicPr>
          <p:nvPr/>
        </p:nvPicPr>
        <p:blipFill>
          <a:blip r:embed="rId3"/>
          <a:stretch>
            <a:fillRect/>
          </a:stretch>
        </p:blipFill>
        <p:spPr>
          <a:xfrm>
            <a:off x="985283" y="2092444"/>
            <a:ext cx="7935432" cy="3400900"/>
          </a:xfrm>
          <a:prstGeom prst="rect">
            <a:avLst/>
          </a:prstGeom>
        </p:spPr>
      </p:pic>
    </p:spTree>
    <p:extLst>
      <p:ext uri="{BB962C8B-B14F-4D97-AF65-F5344CB8AC3E}">
        <p14:creationId xmlns:p14="http://schemas.microsoft.com/office/powerpoint/2010/main" val="164601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1"/>
          <p:cNvSpPr txBox="1">
            <a:spLocks noGrp="1"/>
          </p:cNvSpPr>
          <p:nvPr>
            <p:ph type="title"/>
          </p:nvPr>
        </p:nvSpPr>
        <p:spPr>
          <a:xfrm>
            <a:off x="495300" y="274638"/>
            <a:ext cx="8915400" cy="778200"/>
          </a:xfrm>
          <a:prstGeom prst="rect">
            <a:avLst/>
          </a:prstGeom>
          <a:noFill/>
          <a:ln>
            <a:noFill/>
          </a:ln>
        </p:spPr>
        <p:txBody>
          <a:bodyPr spcFirstLastPara="1" wrap="square" lIns="91425" tIns="45700" rIns="91425" bIns="45700" anchor="t" anchorCtr="0">
            <a:noAutofit/>
          </a:bodyPr>
          <a:lstStyle/>
          <a:p>
            <a:r>
              <a:rPr lang="en-US" sz="3600" b="1" dirty="0">
                <a:solidFill>
                  <a:srgbClr val="0070C0"/>
                </a:solidFill>
              </a:rPr>
              <a:t>Result Analysis and Discussions</a:t>
            </a:r>
            <a:endParaRPr sz="3600" b="1" dirty="0">
              <a:solidFill>
                <a:srgbClr val="0070C0"/>
              </a:solidFill>
            </a:endParaRPr>
          </a:p>
        </p:txBody>
      </p:sp>
      <p:sp>
        <p:nvSpPr>
          <p:cNvPr id="5" name="TextBox 4">
            <a:extLst>
              <a:ext uri="{FF2B5EF4-FFF2-40B4-BE49-F238E27FC236}">
                <a16:creationId xmlns:a16="http://schemas.microsoft.com/office/drawing/2014/main" id="{7757B486-7FF7-4A42-AFBD-C6A6748C8AFC}"/>
              </a:ext>
            </a:extLst>
          </p:cNvPr>
          <p:cNvSpPr txBox="1"/>
          <p:nvPr/>
        </p:nvSpPr>
        <p:spPr>
          <a:xfrm>
            <a:off x="614265" y="1268963"/>
            <a:ext cx="8677469" cy="4370427"/>
          </a:xfrm>
          <a:prstGeom prst="rect">
            <a:avLst/>
          </a:prstGeom>
          <a:noFill/>
        </p:spPr>
        <p:txBody>
          <a:bodyPr wrap="square" rtlCol="0">
            <a:spAutoFit/>
          </a:bodyPr>
          <a:lstStyle/>
          <a:p>
            <a:pPr>
              <a:lnSpc>
                <a:spcPct val="150000"/>
              </a:lnSpc>
            </a:pPr>
            <a:r>
              <a:rPr lang="en-US" sz="2200" b="1" dirty="0">
                <a:latin typeface="Calibri" panose="020F0502020204030204" pitchFamily="34" charset="0"/>
                <a:cs typeface="Calibri" panose="020F0502020204030204" pitchFamily="34" charset="0"/>
              </a:rPr>
              <a:t>1. Summary of Results</a:t>
            </a:r>
            <a:endParaRPr lang="en-US" sz="2200" dirty="0">
              <a:latin typeface="Calibri" panose="020F0502020204030204" pitchFamily="34" charset="0"/>
              <a:cs typeface="Calibri" panose="020F0502020204030204" pitchFamily="34" charset="0"/>
            </a:endParaRPr>
          </a:p>
          <a:p>
            <a:pPr marL="342900" indent="-342900">
              <a:lnSpc>
                <a:spcPct val="150000"/>
              </a:lnSpc>
              <a:buFont typeface="Calibri" panose="020F0502020204030204" pitchFamily="34" charset="0"/>
              <a:buChar char="─"/>
            </a:pPr>
            <a:r>
              <a:rPr lang="en-US" sz="2200" dirty="0">
                <a:latin typeface="Calibri" panose="020F0502020204030204" pitchFamily="34" charset="0"/>
                <a:cs typeface="Calibri" panose="020F0502020204030204" pitchFamily="34" charset="0"/>
              </a:rPr>
              <a:t>Human detection accuracy: 94%</a:t>
            </a:r>
          </a:p>
          <a:p>
            <a:pPr marL="342900" indent="-342900">
              <a:lnSpc>
                <a:spcPct val="150000"/>
              </a:lnSpc>
              <a:buFont typeface="Calibri" panose="020F0502020204030204" pitchFamily="34" charset="0"/>
              <a:buChar char="─"/>
            </a:pPr>
            <a:r>
              <a:rPr lang="en-US" sz="2200" dirty="0">
                <a:latin typeface="Calibri" panose="020F0502020204030204" pitchFamily="34" charset="0"/>
                <a:cs typeface="Calibri" panose="020F0502020204030204" pitchFamily="34" charset="0"/>
              </a:rPr>
              <a:t>Animal detection accuracy: 90%</a:t>
            </a:r>
          </a:p>
          <a:p>
            <a:pPr marL="342900" indent="-342900">
              <a:lnSpc>
                <a:spcPct val="150000"/>
              </a:lnSpc>
              <a:buFont typeface="Calibri" panose="020F0502020204030204" pitchFamily="34" charset="0"/>
              <a:buChar char="─"/>
            </a:pPr>
            <a:r>
              <a:rPr lang="en-US" sz="2200" dirty="0">
                <a:latin typeface="Calibri" panose="020F0502020204030204" pitchFamily="34" charset="0"/>
                <a:cs typeface="Calibri" panose="020F0502020204030204" pitchFamily="34" charset="0"/>
              </a:rPr>
              <a:t>Vehicle detection accuracy: 92%</a:t>
            </a:r>
          </a:p>
          <a:p>
            <a:pPr marL="342900" indent="-342900">
              <a:lnSpc>
                <a:spcPct val="150000"/>
              </a:lnSpc>
              <a:buFont typeface="Calibri" panose="020F0502020204030204" pitchFamily="34" charset="0"/>
              <a:buChar char="─"/>
            </a:pPr>
            <a:r>
              <a:rPr lang="en-US" sz="2200" dirty="0">
                <a:latin typeface="Calibri" panose="020F0502020204030204" pitchFamily="34" charset="0"/>
                <a:cs typeface="Calibri" panose="020F0502020204030204" pitchFamily="34" charset="0"/>
              </a:rPr>
              <a:t>False alarms reduced by about 65%</a:t>
            </a:r>
          </a:p>
          <a:p>
            <a:pPr marL="342900" indent="-342900">
              <a:lnSpc>
                <a:spcPct val="150000"/>
              </a:lnSpc>
              <a:buFont typeface="Calibri" panose="020F0502020204030204" pitchFamily="34" charset="0"/>
              <a:buChar char="─"/>
            </a:pPr>
            <a:r>
              <a:rPr lang="en-US" sz="2200" dirty="0">
                <a:latin typeface="Calibri" panose="020F0502020204030204" pitchFamily="34" charset="0"/>
                <a:cs typeface="Calibri" panose="020F0502020204030204" pitchFamily="34" charset="0"/>
              </a:rPr>
              <a:t>Average system latency: ~77 </a:t>
            </a:r>
            <a:r>
              <a:rPr lang="en-US" sz="2200" dirty="0" err="1">
                <a:latin typeface="Calibri" panose="020F0502020204030204" pitchFamily="34" charset="0"/>
                <a:cs typeface="Calibri" panose="020F0502020204030204" pitchFamily="34" charset="0"/>
              </a:rPr>
              <a:t>ms</a:t>
            </a:r>
            <a:endParaRPr lang="en-US" sz="2200" dirty="0">
              <a:latin typeface="Calibri" panose="020F0502020204030204" pitchFamily="34" charset="0"/>
              <a:cs typeface="Calibri" panose="020F0502020204030204" pitchFamily="34" charset="0"/>
            </a:endParaRPr>
          </a:p>
          <a:p>
            <a:pPr marL="342900" indent="-342900">
              <a:lnSpc>
                <a:spcPct val="150000"/>
              </a:lnSpc>
              <a:buFont typeface="Calibri" panose="020F0502020204030204" pitchFamily="34" charset="0"/>
              <a:buChar char="─"/>
            </a:pPr>
            <a:r>
              <a:rPr lang="en-US" sz="2200" dirty="0">
                <a:latin typeface="Calibri" panose="020F0502020204030204" pitchFamily="34" charset="0"/>
                <a:cs typeface="Calibri" panose="020F0502020204030204" pitchFamily="34" charset="0"/>
              </a:rPr>
              <a:t>Real-time performance achieved on Raspberry Pi</a:t>
            </a:r>
          </a:p>
          <a:p>
            <a:pPr>
              <a:lnSpc>
                <a:spcPct val="150000"/>
              </a:lnSpc>
            </a:pPr>
            <a:endParaRPr lang="en-US" sz="2200" b="1" dirty="0">
              <a:latin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1326135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1"/>
          <p:cNvSpPr txBox="1">
            <a:spLocks noGrp="1"/>
          </p:cNvSpPr>
          <p:nvPr>
            <p:ph type="title"/>
          </p:nvPr>
        </p:nvSpPr>
        <p:spPr>
          <a:xfrm>
            <a:off x="495300" y="274638"/>
            <a:ext cx="8915400" cy="778200"/>
          </a:xfrm>
          <a:prstGeom prst="rect">
            <a:avLst/>
          </a:prstGeom>
          <a:noFill/>
          <a:ln>
            <a:noFill/>
          </a:ln>
        </p:spPr>
        <p:txBody>
          <a:bodyPr spcFirstLastPara="1" wrap="square" lIns="91425" tIns="45700" rIns="91425" bIns="45700" anchor="t" anchorCtr="0">
            <a:noAutofit/>
          </a:bodyPr>
          <a:lstStyle/>
          <a:p>
            <a:r>
              <a:rPr lang="en-US" sz="3600" b="1" dirty="0">
                <a:solidFill>
                  <a:srgbClr val="0070C0"/>
                </a:solidFill>
              </a:rPr>
              <a:t>Result Analysis and Discussions</a:t>
            </a:r>
            <a:endParaRPr sz="3600" b="1" dirty="0">
              <a:solidFill>
                <a:srgbClr val="0070C0"/>
              </a:solidFill>
            </a:endParaRPr>
          </a:p>
        </p:txBody>
      </p:sp>
      <p:sp>
        <p:nvSpPr>
          <p:cNvPr id="5" name="TextBox 4">
            <a:extLst>
              <a:ext uri="{FF2B5EF4-FFF2-40B4-BE49-F238E27FC236}">
                <a16:creationId xmlns:a16="http://schemas.microsoft.com/office/drawing/2014/main" id="{7757B486-7FF7-4A42-AFBD-C6A6748C8AFC}"/>
              </a:ext>
            </a:extLst>
          </p:cNvPr>
          <p:cNvSpPr txBox="1"/>
          <p:nvPr/>
        </p:nvSpPr>
        <p:spPr>
          <a:xfrm>
            <a:off x="614265" y="1243786"/>
            <a:ext cx="8677469" cy="6133859"/>
          </a:xfrm>
          <a:prstGeom prst="rect">
            <a:avLst/>
          </a:prstGeom>
          <a:noFill/>
        </p:spPr>
        <p:txBody>
          <a:bodyPr wrap="square" rtlCol="0">
            <a:spAutoFit/>
          </a:bodyPr>
          <a:lstStyle/>
          <a:p>
            <a:pPr>
              <a:lnSpc>
                <a:spcPct val="150000"/>
              </a:lnSpc>
            </a:pPr>
            <a:r>
              <a:rPr lang="en-US" sz="2200" b="1" dirty="0">
                <a:latin typeface="Calibri" panose="020F0502020204030204" pitchFamily="34" charset="0"/>
                <a:cs typeface="Calibri" panose="020F0502020204030204" pitchFamily="34" charset="0"/>
              </a:rPr>
              <a:t>2. Interpretation of Results</a:t>
            </a:r>
            <a:endParaRPr lang="en-US" sz="2200" dirty="0">
              <a:latin typeface="Calibri" panose="020F0502020204030204" pitchFamily="34" charset="0"/>
              <a:cs typeface="Calibri" panose="020F0502020204030204" pitchFamily="34" charset="0"/>
            </a:endParaRPr>
          </a:p>
          <a:p>
            <a:pPr marL="342900" indent="-342900">
              <a:lnSpc>
                <a:spcPct val="150000"/>
              </a:lnSpc>
              <a:buFont typeface="Calibri" panose="020F0502020204030204" pitchFamily="34" charset="0"/>
              <a:buChar char="─"/>
            </a:pPr>
            <a:r>
              <a:rPr lang="en-US" sz="2200" dirty="0">
                <a:latin typeface="Calibri" panose="020F0502020204030204" pitchFamily="34" charset="0"/>
                <a:cs typeface="Calibri" panose="020F0502020204030204" pitchFamily="34" charset="0"/>
              </a:rPr>
              <a:t>The system detects intruders accurately in real time.</a:t>
            </a:r>
          </a:p>
          <a:p>
            <a:pPr marL="342900" indent="-342900">
              <a:lnSpc>
                <a:spcPct val="150000"/>
              </a:lnSpc>
              <a:buFont typeface="Calibri" panose="020F0502020204030204" pitchFamily="34" charset="0"/>
              <a:buChar char="─"/>
            </a:pPr>
            <a:r>
              <a:rPr lang="en-US" sz="2200" dirty="0">
                <a:latin typeface="Calibri" panose="020F0502020204030204" pitchFamily="34" charset="0"/>
                <a:cs typeface="Calibri" panose="020F0502020204030204" pitchFamily="34" charset="0"/>
              </a:rPr>
              <a:t>Sensor fusion reduces false alerts compared to motion-only systems.</a:t>
            </a:r>
          </a:p>
          <a:p>
            <a:pPr marL="342900" indent="-342900">
              <a:lnSpc>
                <a:spcPct val="150000"/>
              </a:lnSpc>
              <a:buFont typeface="Calibri" panose="020F0502020204030204" pitchFamily="34" charset="0"/>
              <a:buChar char="─"/>
            </a:pPr>
            <a:r>
              <a:rPr lang="en-US" sz="2200" dirty="0">
                <a:latin typeface="Calibri" panose="020F0502020204030204" pitchFamily="34" charset="0"/>
                <a:cs typeface="Calibri" panose="020F0502020204030204" pitchFamily="34" charset="0"/>
              </a:rPr>
              <a:t>Edge-based AI gives fast response without cloud delay.</a:t>
            </a:r>
          </a:p>
          <a:p>
            <a:pPr>
              <a:lnSpc>
                <a:spcPct val="150000"/>
              </a:lnSpc>
            </a:pPr>
            <a:endParaRPr lang="en-US" sz="2200" dirty="0">
              <a:latin typeface="Calibri" panose="020F0502020204030204" pitchFamily="34" charset="0"/>
              <a:cs typeface="Calibri" panose="020F0502020204030204" pitchFamily="34" charset="0"/>
            </a:endParaRPr>
          </a:p>
          <a:p>
            <a:pPr>
              <a:lnSpc>
                <a:spcPct val="150000"/>
              </a:lnSpc>
            </a:pPr>
            <a:r>
              <a:rPr lang="en-US" sz="2200" b="1" dirty="0">
                <a:latin typeface="Calibri" panose="020F0502020204030204" pitchFamily="34" charset="0"/>
                <a:cs typeface="Calibri" panose="020F0502020204030204" pitchFamily="34" charset="0"/>
              </a:rPr>
              <a:t>3. Comparison with Literature</a:t>
            </a:r>
            <a:endParaRPr lang="en-US" sz="2200" dirty="0">
              <a:latin typeface="Calibri" panose="020F0502020204030204" pitchFamily="34" charset="0"/>
              <a:cs typeface="Calibri" panose="020F0502020204030204" pitchFamily="34" charset="0"/>
            </a:endParaRPr>
          </a:p>
          <a:p>
            <a:pPr marL="342900" indent="-342900">
              <a:lnSpc>
                <a:spcPct val="150000"/>
              </a:lnSpc>
              <a:buFont typeface="Calibri" panose="020F0502020204030204" pitchFamily="34" charset="0"/>
              <a:buChar char="─"/>
            </a:pPr>
            <a:r>
              <a:rPr lang="en-US" sz="2200" dirty="0">
                <a:latin typeface="Calibri" panose="020F0502020204030204" pitchFamily="34" charset="0"/>
                <a:cs typeface="Calibri" panose="020F0502020204030204" pitchFamily="34" charset="0"/>
              </a:rPr>
              <a:t>Similar to recent AI surveillance systems, SmartEye shows high detection accuracy.</a:t>
            </a:r>
          </a:p>
          <a:p>
            <a:pPr marL="342900" indent="-342900">
              <a:lnSpc>
                <a:spcPct val="150000"/>
              </a:lnSpc>
              <a:buFont typeface="Calibri" panose="020F0502020204030204" pitchFamily="34" charset="0"/>
              <a:buChar char="─"/>
            </a:pPr>
            <a:r>
              <a:rPr lang="en-US" sz="2200" dirty="0">
                <a:latin typeface="Calibri" panose="020F0502020204030204" pitchFamily="34" charset="0"/>
                <a:cs typeface="Calibri" panose="020F0502020204030204" pitchFamily="34" charset="0"/>
              </a:rPr>
              <a:t>Unlike cloud-based systems, it works fully on-device with lower cost and latency.</a:t>
            </a:r>
          </a:p>
          <a:p>
            <a:pPr>
              <a:lnSpc>
                <a:spcPct val="150000"/>
              </a:lnSpc>
            </a:pPr>
            <a:endParaRPr lang="en-US" sz="2200" dirty="0">
              <a:latin typeface="Calibri" panose="020F0502020204030204" pitchFamily="34" charset="0"/>
              <a:cs typeface="Calibri" panose="020F0502020204030204" pitchFamily="34" charset="0"/>
            </a:endParaRPr>
          </a:p>
          <a:p>
            <a:pPr>
              <a:lnSpc>
                <a:spcPct val="150000"/>
              </a:lnSpc>
            </a:pPr>
            <a:endParaRPr lang="en-US"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10889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1"/>
          <p:cNvSpPr txBox="1">
            <a:spLocks noGrp="1"/>
          </p:cNvSpPr>
          <p:nvPr>
            <p:ph type="title"/>
          </p:nvPr>
        </p:nvSpPr>
        <p:spPr>
          <a:xfrm>
            <a:off x="495300" y="274637"/>
            <a:ext cx="8915400" cy="1106293"/>
          </a:xfrm>
          <a:prstGeom prst="rect">
            <a:avLst/>
          </a:prstGeom>
          <a:noFill/>
          <a:ln>
            <a:noFill/>
          </a:ln>
        </p:spPr>
        <p:txBody>
          <a:bodyPr spcFirstLastPara="1" wrap="square" lIns="91425" tIns="45700" rIns="91425" bIns="45700" anchor="t" anchorCtr="0">
            <a:noAutofit/>
          </a:bodyPr>
          <a:lstStyle/>
          <a:p>
            <a:r>
              <a:rPr lang="en-US" sz="3600" b="1" dirty="0">
                <a:solidFill>
                  <a:srgbClr val="0070C0"/>
                </a:solidFill>
              </a:rPr>
              <a:t>Result Analysis and Discussions</a:t>
            </a:r>
            <a:endParaRPr sz="3600" b="1" dirty="0">
              <a:solidFill>
                <a:srgbClr val="0070C0"/>
              </a:solidFill>
            </a:endParaRPr>
          </a:p>
        </p:txBody>
      </p:sp>
      <p:sp>
        <p:nvSpPr>
          <p:cNvPr id="5" name="TextBox 4">
            <a:extLst>
              <a:ext uri="{FF2B5EF4-FFF2-40B4-BE49-F238E27FC236}">
                <a16:creationId xmlns:a16="http://schemas.microsoft.com/office/drawing/2014/main" id="{7757B486-7FF7-4A42-AFBD-C6A6748C8AFC}"/>
              </a:ext>
            </a:extLst>
          </p:cNvPr>
          <p:cNvSpPr txBox="1"/>
          <p:nvPr/>
        </p:nvSpPr>
        <p:spPr>
          <a:xfrm>
            <a:off x="578498" y="1268963"/>
            <a:ext cx="8677469" cy="5386090"/>
          </a:xfrm>
          <a:prstGeom prst="rect">
            <a:avLst/>
          </a:prstGeom>
          <a:noFill/>
        </p:spPr>
        <p:txBody>
          <a:bodyPr wrap="square" rtlCol="0">
            <a:spAutoFit/>
          </a:bodyPr>
          <a:lstStyle/>
          <a:p>
            <a:pPr>
              <a:lnSpc>
                <a:spcPct val="150000"/>
              </a:lnSpc>
            </a:pPr>
            <a:r>
              <a:rPr lang="en-US" sz="2200" b="1" dirty="0">
                <a:latin typeface="Calibri" panose="020F0502020204030204" pitchFamily="34" charset="0"/>
                <a:cs typeface="Calibri" panose="020F0502020204030204" pitchFamily="34" charset="0"/>
              </a:rPr>
              <a:t>4. Reasons Behind Observations</a:t>
            </a:r>
            <a:endParaRPr lang="en-US" sz="2200" dirty="0">
              <a:latin typeface="Calibri" panose="020F0502020204030204" pitchFamily="34" charset="0"/>
              <a:cs typeface="Calibri" panose="020F0502020204030204" pitchFamily="34" charset="0"/>
            </a:endParaRPr>
          </a:p>
          <a:p>
            <a:pPr marL="342900" indent="-342900">
              <a:lnSpc>
                <a:spcPct val="150000"/>
              </a:lnSpc>
              <a:buFont typeface="Calibri" panose="020F0502020204030204" pitchFamily="34" charset="0"/>
              <a:buChar char="─"/>
            </a:pPr>
            <a:r>
              <a:rPr lang="en-US" sz="2200" dirty="0">
                <a:latin typeface="Calibri" panose="020F0502020204030204" pitchFamily="34" charset="0"/>
                <a:cs typeface="Calibri" panose="020F0502020204030204" pitchFamily="34" charset="0"/>
              </a:rPr>
              <a:t>High accuracy is due to YOLOv8 deep learning model.</a:t>
            </a:r>
          </a:p>
          <a:p>
            <a:pPr marL="342900" indent="-342900">
              <a:lnSpc>
                <a:spcPct val="150000"/>
              </a:lnSpc>
              <a:buFont typeface="Calibri" panose="020F0502020204030204" pitchFamily="34" charset="0"/>
              <a:buChar char="─"/>
            </a:pPr>
            <a:r>
              <a:rPr lang="en-US" sz="2200" dirty="0">
                <a:latin typeface="Calibri" panose="020F0502020204030204" pitchFamily="34" charset="0"/>
                <a:cs typeface="Calibri" panose="020F0502020204030204" pitchFamily="34" charset="0"/>
              </a:rPr>
              <a:t>Low false alarms are due to camera and radar sensor fusion.</a:t>
            </a:r>
          </a:p>
          <a:p>
            <a:pPr marL="342900" indent="-342900">
              <a:lnSpc>
                <a:spcPct val="150000"/>
              </a:lnSpc>
              <a:buFont typeface="Calibri" panose="020F0502020204030204" pitchFamily="34" charset="0"/>
              <a:buChar char="─"/>
            </a:pPr>
            <a:r>
              <a:rPr lang="en-US" sz="2200" dirty="0">
                <a:latin typeface="Calibri" panose="020F0502020204030204" pitchFamily="34" charset="0"/>
                <a:cs typeface="Calibri" panose="020F0502020204030204" pitchFamily="34" charset="0"/>
              </a:rPr>
              <a:t>Fast response is achieved because processing is done on the edge device.</a:t>
            </a:r>
          </a:p>
          <a:p>
            <a:pPr>
              <a:lnSpc>
                <a:spcPct val="150000"/>
              </a:lnSpc>
            </a:pPr>
            <a:endParaRPr lang="en-US" sz="2200" b="1" dirty="0">
              <a:latin typeface="Calibri" panose="020F0502020204030204" pitchFamily="34" charset="0"/>
              <a:cs typeface="Calibri" panose="020F0502020204030204" pitchFamily="34" charset="0"/>
            </a:endParaRPr>
          </a:p>
          <a:p>
            <a:pPr>
              <a:lnSpc>
                <a:spcPct val="150000"/>
              </a:lnSpc>
            </a:pPr>
            <a:r>
              <a:rPr lang="en-US" sz="2200" b="1" dirty="0">
                <a:latin typeface="Calibri" panose="020F0502020204030204" pitchFamily="34" charset="0"/>
                <a:cs typeface="Calibri" panose="020F0502020204030204" pitchFamily="34" charset="0"/>
              </a:rPr>
              <a:t>5. Limitations</a:t>
            </a:r>
            <a:endParaRPr lang="en-US" sz="2200" dirty="0">
              <a:latin typeface="Calibri" panose="020F0502020204030204" pitchFamily="34" charset="0"/>
              <a:cs typeface="Calibri" panose="020F0502020204030204" pitchFamily="34" charset="0"/>
            </a:endParaRPr>
          </a:p>
          <a:p>
            <a:pPr marL="342900" indent="-342900">
              <a:lnSpc>
                <a:spcPct val="150000"/>
              </a:lnSpc>
              <a:buFont typeface="Calibri" panose="020F0502020204030204" pitchFamily="34" charset="0"/>
              <a:buChar char="─"/>
            </a:pPr>
            <a:r>
              <a:rPr lang="en-US" sz="2200" dirty="0">
                <a:latin typeface="Calibri" panose="020F0502020204030204" pitchFamily="34" charset="0"/>
                <a:cs typeface="Calibri" panose="020F0502020204030204" pitchFamily="34" charset="0"/>
              </a:rPr>
              <a:t>Limited to single camera setup</a:t>
            </a:r>
          </a:p>
          <a:p>
            <a:pPr marL="342900" indent="-342900">
              <a:lnSpc>
                <a:spcPct val="150000"/>
              </a:lnSpc>
              <a:buFont typeface="Calibri" panose="020F0502020204030204" pitchFamily="34" charset="0"/>
              <a:buChar char="─"/>
            </a:pPr>
            <a:r>
              <a:rPr lang="en-US" sz="2200" dirty="0">
                <a:latin typeface="Calibri" panose="020F0502020204030204" pitchFamily="34" charset="0"/>
                <a:cs typeface="Calibri" panose="020F0502020204030204" pitchFamily="34" charset="0"/>
              </a:rPr>
              <a:t>Performance may drop in very low light</a:t>
            </a:r>
          </a:p>
          <a:p>
            <a:pPr marL="342900" indent="-342900">
              <a:lnSpc>
                <a:spcPct val="150000"/>
              </a:lnSpc>
              <a:buFont typeface="Calibri" panose="020F0502020204030204" pitchFamily="34" charset="0"/>
              <a:buChar char="─"/>
            </a:pPr>
            <a:r>
              <a:rPr lang="en-US" sz="2200" dirty="0">
                <a:latin typeface="Calibri" panose="020F0502020204030204" pitchFamily="34" charset="0"/>
                <a:cs typeface="Calibri" panose="020F0502020204030204" pitchFamily="34" charset="0"/>
              </a:rPr>
              <a:t>No face recognition in current version</a:t>
            </a:r>
          </a:p>
          <a:p>
            <a:endParaRPr lang="en-IN" dirty="0"/>
          </a:p>
        </p:txBody>
      </p:sp>
    </p:spTree>
    <p:extLst>
      <p:ext uri="{BB962C8B-B14F-4D97-AF65-F5344CB8AC3E}">
        <p14:creationId xmlns:p14="http://schemas.microsoft.com/office/powerpoint/2010/main" val="29356414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34CF3-0700-4559-8331-789AB5F14E80}"/>
              </a:ext>
            </a:extLst>
          </p:cNvPr>
          <p:cNvSpPr>
            <a:spLocks noGrp="1"/>
          </p:cNvSpPr>
          <p:nvPr>
            <p:ph type="title"/>
          </p:nvPr>
        </p:nvSpPr>
        <p:spPr/>
        <p:txBody>
          <a:bodyPr/>
          <a:lstStyle/>
          <a:p>
            <a:r>
              <a:rPr lang="en-US" b="1" i="0" dirty="0">
                <a:solidFill>
                  <a:srgbClr val="000000"/>
                </a:solidFill>
                <a:effectLst/>
                <a:latin typeface="Aptos"/>
              </a:rPr>
              <a:t>Result analysis</a:t>
            </a:r>
            <a:endParaRPr lang="en-IN" dirty="0"/>
          </a:p>
        </p:txBody>
      </p:sp>
      <p:sp>
        <p:nvSpPr>
          <p:cNvPr id="3" name="Text Placeholder 2">
            <a:extLst>
              <a:ext uri="{FF2B5EF4-FFF2-40B4-BE49-F238E27FC236}">
                <a16:creationId xmlns:a16="http://schemas.microsoft.com/office/drawing/2014/main" id="{E862E7BE-0E35-4E83-A748-8F3CC8927522}"/>
              </a:ext>
            </a:extLst>
          </p:cNvPr>
          <p:cNvSpPr>
            <a:spLocks noGrp="1"/>
          </p:cNvSpPr>
          <p:nvPr>
            <p:ph idx="1"/>
          </p:nvPr>
        </p:nvSpPr>
        <p:spPr>
          <a:xfrm>
            <a:off x="495300" y="1417639"/>
            <a:ext cx="8915400" cy="4708526"/>
          </a:xfrm>
        </p:spPr>
        <p:txBody>
          <a:bodyPr/>
          <a:lstStyle/>
          <a:p>
            <a:pPr marL="25401" indent="0">
              <a:buNone/>
            </a:pPr>
            <a:r>
              <a:rPr lang="en-US" dirty="0"/>
              <a:t>The accuracy of the model is around 80-90%.</a:t>
            </a:r>
          </a:p>
          <a:p>
            <a:pPr marL="25401" indent="0">
              <a:buNone/>
            </a:pPr>
            <a:r>
              <a:rPr lang="en-IN" sz="2400" dirty="0"/>
              <a:t>Here it is detecting human and sending notification to the phone:</a:t>
            </a:r>
          </a:p>
        </p:txBody>
      </p:sp>
      <p:pic>
        <p:nvPicPr>
          <p:cNvPr id="5" name="Picture 4" descr="A person in a black shirt&#10;&#10;AI-generated content may be incorrect.">
            <a:extLst>
              <a:ext uri="{FF2B5EF4-FFF2-40B4-BE49-F238E27FC236}">
                <a16:creationId xmlns:a16="http://schemas.microsoft.com/office/drawing/2014/main" id="{A2BBC8CF-5B24-40AC-8A92-14F7D13EC470}"/>
              </a:ext>
            </a:extLst>
          </p:cNvPr>
          <p:cNvPicPr>
            <a:picLocks noChangeAspect="1"/>
          </p:cNvPicPr>
          <p:nvPr/>
        </p:nvPicPr>
        <p:blipFill>
          <a:blip r:embed="rId2"/>
          <a:stretch>
            <a:fillRect/>
          </a:stretch>
        </p:blipFill>
        <p:spPr>
          <a:xfrm>
            <a:off x="634852" y="2758721"/>
            <a:ext cx="4119287" cy="2970458"/>
          </a:xfrm>
          <a:prstGeom prst="rect">
            <a:avLst/>
          </a:prstGeom>
        </p:spPr>
      </p:pic>
      <p:pic>
        <p:nvPicPr>
          <p:cNvPr id="7" name="Picture 6" descr="A hand holding a phone&#10;&#10;AI-generated content may be incorrect.">
            <a:extLst>
              <a:ext uri="{FF2B5EF4-FFF2-40B4-BE49-F238E27FC236}">
                <a16:creationId xmlns:a16="http://schemas.microsoft.com/office/drawing/2014/main" id="{19752EA1-70E4-463B-A862-0937B877104D}"/>
              </a:ext>
            </a:extLst>
          </p:cNvPr>
          <p:cNvPicPr>
            <a:picLocks noChangeAspect="1"/>
          </p:cNvPicPr>
          <p:nvPr/>
        </p:nvPicPr>
        <p:blipFill>
          <a:blip r:embed="rId3"/>
          <a:stretch>
            <a:fillRect/>
          </a:stretch>
        </p:blipFill>
        <p:spPr>
          <a:xfrm>
            <a:off x="5151863" y="2758721"/>
            <a:ext cx="4169271" cy="2970459"/>
          </a:xfrm>
          <a:prstGeom prst="rect">
            <a:avLst/>
          </a:prstGeom>
        </p:spPr>
      </p:pic>
    </p:spTree>
    <p:extLst>
      <p:ext uri="{BB962C8B-B14F-4D97-AF65-F5344CB8AC3E}">
        <p14:creationId xmlns:p14="http://schemas.microsoft.com/office/powerpoint/2010/main" val="10390244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CBD22-65BF-D221-25B6-89C2F6DBE16A}"/>
              </a:ext>
            </a:extLst>
          </p:cNvPr>
          <p:cNvSpPr>
            <a:spLocks noGrp="1"/>
          </p:cNvSpPr>
          <p:nvPr>
            <p:ph type="title"/>
          </p:nvPr>
        </p:nvSpPr>
        <p:spPr>
          <a:xfrm>
            <a:off x="681038" y="365127"/>
            <a:ext cx="8543925" cy="1090450"/>
          </a:xfrm>
        </p:spPr>
        <p:txBody>
          <a:bodyPr/>
          <a:lstStyle/>
          <a:p>
            <a:r>
              <a:rPr lang="en-US" sz="3600" b="1" dirty="0">
                <a:solidFill>
                  <a:srgbClr val="0070C0"/>
                </a:solidFill>
              </a:rPr>
              <a:t>Sustainable Development Goals(SDG)</a:t>
            </a:r>
            <a:endParaRPr lang="en-IN" sz="3600" b="1" dirty="0">
              <a:solidFill>
                <a:srgbClr val="0070C0"/>
              </a:solidFill>
            </a:endParaRPr>
          </a:p>
        </p:txBody>
      </p:sp>
      <p:sp>
        <p:nvSpPr>
          <p:cNvPr id="3" name="Text Placeholder 2">
            <a:extLst>
              <a:ext uri="{FF2B5EF4-FFF2-40B4-BE49-F238E27FC236}">
                <a16:creationId xmlns:a16="http://schemas.microsoft.com/office/drawing/2014/main" id="{B185556F-1CF8-4F94-3318-9FF8024386EF}"/>
              </a:ext>
            </a:extLst>
          </p:cNvPr>
          <p:cNvSpPr>
            <a:spLocks noGrp="1"/>
          </p:cNvSpPr>
          <p:nvPr>
            <p:ph idx="1"/>
          </p:nvPr>
        </p:nvSpPr>
        <p:spPr>
          <a:xfrm>
            <a:off x="495300" y="1045029"/>
            <a:ext cx="8915400" cy="5081135"/>
          </a:xfrm>
        </p:spPr>
        <p:txBody>
          <a:bodyPr/>
          <a:lstStyle/>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SDG 11 – Sustainable Cities and Communities:</a:t>
            </a:r>
            <a:br>
              <a:rPr kumimoji="0" lang="en-US" altLang="en-US" sz="2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br>
            <a:r>
              <a:rPr kumimoji="0" lang="en-US" altLang="en-US" sz="2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Enhances urban safety using intelligent technology while protecting individual privacy.</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SDG 16 – Peace, Justice, and Strong Institutions:</a:t>
            </a:r>
            <a:br>
              <a:rPr kumimoji="0" lang="en-US" altLang="en-US" sz="2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br>
            <a:r>
              <a:rPr kumimoji="0" lang="en-US" altLang="en-US" sz="2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Supports safe and secure living environments through smart surveillance systems</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SDG 9 – Industry, Innovation, and Infrastructure:</a:t>
            </a:r>
            <a:br>
              <a:rPr kumimoji="0" lang="en-US" altLang="en-US" sz="2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br>
            <a:r>
              <a:rPr kumimoji="0" lang="en-US" altLang="en-US" sz="2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Promotes the development of innovative, cost-effective, and secure IoT infrastructure for smarter communities.</a:t>
            </a:r>
          </a:p>
          <a:p>
            <a:pPr marL="25400" indent="0">
              <a:buNone/>
            </a:pPr>
            <a:endParaRPr lang="en-IN" sz="2200" dirty="0"/>
          </a:p>
        </p:txBody>
      </p:sp>
    </p:spTree>
    <p:extLst>
      <p:ext uri="{BB962C8B-B14F-4D97-AF65-F5344CB8AC3E}">
        <p14:creationId xmlns:p14="http://schemas.microsoft.com/office/powerpoint/2010/main" val="646649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29A94-561C-2CC8-AC08-3F637A68DCDB}"/>
              </a:ext>
            </a:extLst>
          </p:cNvPr>
          <p:cNvSpPr>
            <a:spLocks noGrp="1"/>
          </p:cNvSpPr>
          <p:nvPr>
            <p:ph type="title"/>
          </p:nvPr>
        </p:nvSpPr>
        <p:spPr/>
        <p:txBody>
          <a:bodyPr/>
          <a:lstStyle/>
          <a:p>
            <a:r>
              <a:rPr lang="en-US" sz="3600" b="1" dirty="0">
                <a:solidFill>
                  <a:srgbClr val="0070C0"/>
                </a:solidFill>
              </a:rPr>
              <a:t>Live Demonstration</a:t>
            </a:r>
            <a:endParaRPr lang="en-IN" sz="3600" b="1" dirty="0">
              <a:solidFill>
                <a:srgbClr val="0070C0"/>
              </a:solidFill>
            </a:endParaRPr>
          </a:p>
        </p:txBody>
      </p:sp>
      <p:sp>
        <p:nvSpPr>
          <p:cNvPr id="3" name="Text Placeholder 2">
            <a:extLst>
              <a:ext uri="{FF2B5EF4-FFF2-40B4-BE49-F238E27FC236}">
                <a16:creationId xmlns:a16="http://schemas.microsoft.com/office/drawing/2014/main" id="{3418B521-15E8-C142-09FD-46969352FA4A}"/>
              </a:ext>
            </a:extLst>
          </p:cNvPr>
          <p:cNvSpPr>
            <a:spLocks noGrp="1"/>
          </p:cNvSpPr>
          <p:nvPr>
            <p:ph idx="1"/>
          </p:nvPr>
        </p:nvSpPr>
        <p:spPr/>
        <p:txBody>
          <a:bodyPr/>
          <a:lstStyle/>
          <a:p>
            <a:r>
              <a:rPr lang="en-US" dirty="0"/>
              <a:t>Live demonstration or walkthrough of the working modules</a:t>
            </a:r>
            <a:endParaRPr lang="en-IN" dirty="0"/>
          </a:p>
        </p:txBody>
      </p:sp>
    </p:spTree>
    <p:extLst>
      <p:ext uri="{BB962C8B-B14F-4D97-AF65-F5344CB8AC3E}">
        <p14:creationId xmlns:p14="http://schemas.microsoft.com/office/powerpoint/2010/main" val="23582057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5BC83-7355-6A22-7EE4-A47BD7290AA1}"/>
              </a:ext>
            </a:extLst>
          </p:cNvPr>
          <p:cNvSpPr>
            <a:spLocks noGrp="1"/>
          </p:cNvSpPr>
          <p:nvPr>
            <p:ph type="title"/>
          </p:nvPr>
        </p:nvSpPr>
        <p:spPr>
          <a:xfrm>
            <a:off x="681038" y="365126"/>
            <a:ext cx="8543925" cy="735887"/>
          </a:xfrm>
        </p:spPr>
        <p:txBody>
          <a:bodyPr/>
          <a:lstStyle/>
          <a:p>
            <a:r>
              <a:rPr lang="en-US" sz="3600" b="1" dirty="0">
                <a:solidFill>
                  <a:srgbClr val="0070C0"/>
                </a:solidFill>
              </a:rPr>
              <a:t>Conclusion</a:t>
            </a:r>
            <a:endParaRPr lang="en-IN" sz="3600" b="1" dirty="0">
              <a:solidFill>
                <a:srgbClr val="0070C0"/>
              </a:solidFill>
            </a:endParaRPr>
          </a:p>
        </p:txBody>
      </p:sp>
      <p:sp>
        <p:nvSpPr>
          <p:cNvPr id="3" name="Text Placeholder 2">
            <a:extLst>
              <a:ext uri="{FF2B5EF4-FFF2-40B4-BE49-F238E27FC236}">
                <a16:creationId xmlns:a16="http://schemas.microsoft.com/office/drawing/2014/main" id="{DE972697-2E76-4619-D7A9-67319E82BB9E}"/>
              </a:ext>
            </a:extLst>
          </p:cNvPr>
          <p:cNvSpPr>
            <a:spLocks noGrp="1"/>
          </p:cNvSpPr>
          <p:nvPr>
            <p:ph idx="1"/>
          </p:nvPr>
        </p:nvSpPr>
        <p:spPr>
          <a:xfrm>
            <a:off x="495300" y="1101013"/>
            <a:ext cx="8915400" cy="5025152"/>
          </a:xfrm>
        </p:spPr>
        <p:txBody>
          <a:bodyPr/>
          <a:lstStyle/>
          <a:p>
            <a:pPr algn="just"/>
            <a:r>
              <a:rPr lang="en-US" sz="2200" dirty="0"/>
              <a:t>SmartEye: The AI Surveillance System was designed to provide a simple, low-cost, and reliable solution for real-time intrusion detection. By combining a camera, radar sensor, and an AI model, the system can identify humans, animals, and vehicles and generate alerts only when a true intrusion is detected. This reduces the need for continuous human monitoring and minimizes false alarms.</a:t>
            </a:r>
          </a:p>
          <a:p>
            <a:pPr marL="25400" indent="0" algn="just">
              <a:buNone/>
            </a:pPr>
            <a:endParaRPr lang="en-US" sz="2200" dirty="0"/>
          </a:p>
          <a:p>
            <a:pPr algn="just"/>
            <a:r>
              <a:rPr lang="en-US" sz="2200" dirty="0"/>
              <a:t>The use of edge computing allows all processing to be done on the device, which improves response time and protects user privacy by avoiding cloud dependency. The results show that SmartEye achieves good detection accuracy with low latency and stable performance. Overall, the project proves that intelligent surveillance can be implemented effectively using affordable hardware and modern AI techniques</a:t>
            </a:r>
          </a:p>
          <a:p>
            <a:pPr marL="25400" indent="0">
              <a:buNone/>
            </a:pPr>
            <a:endParaRPr lang="en-IN" dirty="0"/>
          </a:p>
        </p:txBody>
      </p:sp>
    </p:spTree>
    <p:extLst>
      <p:ext uri="{BB962C8B-B14F-4D97-AF65-F5344CB8AC3E}">
        <p14:creationId xmlns:p14="http://schemas.microsoft.com/office/powerpoint/2010/main" val="2196803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1"/>
          <p:cNvSpPr txBox="1">
            <a:spLocks noGrp="1"/>
          </p:cNvSpPr>
          <p:nvPr>
            <p:ph type="title"/>
          </p:nvPr>
        </p:nvSpPr>
        <p:spPr>
          <a:xfrm>
            <a:off x="495300" y="274638"/>
            <a:ext cx="8915400" cy="778200"/>
          </a:xfrm>
          <a:prstGeom prst="rect">
            <a:avLst/>
          </a:prstGeom>
          <a:noFill/>
          <a:ln>
            <a:noFill/>
          </a:ln>
        </p:spPr>
        <p:txBody>
          <a:bodyPr spcFirstLastPara="1" wrap="square" lIns="91425" tIns="45700" rIns="91425" bIns="45700" anchor="t" anchorCtr="0">
            <a:noAutofit/>
          </a:bodyPr>
          <a:lstStyle/>
          <a:p>
            <a:r>
              <a:rPr lang="en-US" sz="3600" b="1" dirty="0">
                <a:solidFill>
                  <a:srgbClr val="0070C0"/>
                </a:solidFill>
              </a:rPr>
              <a:t>Future Scope</a:t>
            </a:r>
            <a:endParaRPr sz="3600" b="1" dirty="0">
              <a:solidFill>
                <a:srgbClr val="0070C0"/>
              </a:solidFill>
            </a:endParaRPr>
          </a:p>
        </p:txBody>
      </p:sp>
      <p:sp>
        <p:nvSpPr>
          <p:cNvPr id="132" name="Google Shape;132;p11"/>
          <p:cNvSpPr txBox="1">
            <a:spLocks noGrp="1"/>
          </p:cNvSpPr>
          <p:nvPr>
            <p:ph idx="1"/>
          </p:nvPr>
        </p:nvSpPr>
        <p:spPr>
          <a:xfrm>
            <a:off x="495300" y="979714"/>
            <a:ext cx="8915400" cy="5146451"/>
          </a:xfrm>
          <a:prstGeom prst="rect">
            <a:avLst/>
          </a:prstGeom>
          <a:noFill/>
          <a:ln>
            <a:noFill/>
          </a:ln>
        </p:spPr>
        <p:txBody>
          <a:bodyPr spcFirstLastPara="1" wrap="square" lIns="91425" tIns="45700" rIns="91425" bIns="45700" anchor="t" anchorCtr="0">
            <a:noAutofit/>
          </a:bodyPr>
          <a:lstStyle/>
          <a:p>
            <a:pPr marL="285750" indent="-285750" eaLnBrk="0" fontAlgn="base" hangingPunct="0">
              <a:spcBef>
                <a:spcPct val="0"/>
              </a:spcBef>
              <a:spcAft>
                <a:spcPct val="0"/>
              </a:spcAft>
              <a:buClrTx/>
              <a:buSzTx/>
            </a:pPr>
            <a:r>
              <a:rPr kumimoji="0" lang="en-US" altLang="en-US" sz="2200" b="1" i="0" u="none" strike="noStrike" cap="none" normalizeH="0" baseline="0" dirty="0">
                <a:ln>
                  <a:noFill/>
                </a:ln>
                <a:solidFill>
                  <a:schemeClr val="tx1"/>
                </a:solidFill>
                <a:effectLst/>
                <a:latin typeface="Arial" panose="020B0604020202020204" pitchFamily="34" charset="0"/>
              </a:rPr>
              <a:t>Face Recognition &amp; Identity Tracking:</a:t>
            </a:r>
            <a:br>
              <a:rPr kumimoji="0" lang="en-US" altLang="en-US" sz="2200" b="0" i="0" u="none" strike="noStrike" cap="none" normalizeH="0" baseline="0" dirty="0">
                <a:ln>
                  <a:noFill/>
                </a:ln>
                <a:solidFill>
                  <a:schemeClr val="tx1"/>
                </a:solidFill>
                <a:effectLst/>
                <a:latin typeface="Arial" panose="020B0604020202020204" pitchFamily="34" charset="0"/>
              </a:rPr>
            </a:br>
            <a:r>
              <a:rPr kumimoji="0" lang="en-US" altLang="en-US" sz="2200" b="0" i="0" u="none" strike="noStrike" cap="none" normalizeH="0" baseline="0" dirty="0">
                <a:ln>
                  <a:noFill/>
                </a:ln>
                <a:solidFill>
                  <a:schemeClr val="tx1"/>
                </a:solidFill>
                <a:effectLst/>
                <a:latin typeface="Arial" panose="020B0604020202020204" pitchFamily="34" charset="0"/>
              </a:rPr>
              <a:t>Identifies authorized and unauthorized individuals in restricted areas</a:t>
            </a:r>
          </a:p>
          <a:p>
            <a:pPr marL="285750" indent="-285750" eaLnBrk="0" fontAlgn="base" hangingPunct="0">
              <a:spcBef>
                <a:spcPct val="0"/>
              </a:spcBef>
              <a:spcAft>
                <a:spcPct val="0"/>
              </a:spcAft>
              <a:buClrTx/>
              <a:buSzTx/>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285750" indent="-285750" eaLnBrk="0" fontAlgn="base" hangingPunct="0">
              <a:spcBef>
                <a:spcPct val="0"/>
              </a:spcBef>
              <a:spcAft>
                <a:spcPct val="0"/>
              </a:spcAft>
              <a:buClrTx/>
              <a:buSzTx/>
            </a:pPr>
            <a:r>
              <a:rPr kumimoji="0" lang="en-US" altLang="en-US" sz="2200" b="1" i="0" u="none" strike="noStrike" cap="none" normalizeH="0" baseline="0" dirty="0">
                <a:ln>
                  <a:noFill/>
                </a:ln>
                <a:solidFill>
                  <a:schemeClr val="tx1"/>
                </a:solidFill>
                <a:effectLst/>
                <a:latin typeface="Arial" panose="020B0604020202020204" pitchFamily="34" charset="0"/>
              </a:rPr>
              <a:t>Multi-Camera Integration:</a:t>
            </a:r>
            <a:br>
              <a:rPr kumimoji="0" lang="en-US" altLang="en-US" sz="2200" b="0" i="0" u="none" strike="noStrike" cap="none" normalizeH="0" baseline="0" dirty="0">
                <a:ln>
                  <a:noFill/>
                </a:ln>
                <a:solidFill>
                  <a:schemeClr val="tx1"/>
                </a:solidFill>
                <a:effectLst/>
                <a:latin typeface="Arial" panose="020B0604020202020204" pitchFamily="34" charset="0"/>
              </a:rPr>
            </a:br>
            <a:r>
              <a:rPr kumimoji="0" lang="en-US" altLang="en-US" sz="2200" b="0" i="0" u="none" strike="noStrike" cap="none" normalizeH="0" baseline="0" dirty="0">
                <a:ln>
                  <a:noFill/>
                </a:ln>
                <a:solidFill>
                  <a:schemeClr val="tx1"/>
                </a:solidFill>
                <a:effectLst/>
                <a:latin typeface="Arial" panose="020B0604020202020204" pitchFamily="34" charset="0"/>
              </a:rPr>
              <a:t>Enables wider coverage and centralized monitoring</a:t>
            </a:r>
          </a:p>
          <a:p>
            <a:pPr marL="285750" indent="-285750" eaLnBrk="0" fontAlgn="base" hangingPunct="0">
              <a:spcBef>
                <a:spcPct val="0"/>
              </a:spcBef>
              <a:spcAft>
                <a:spcPct val="0"/>
              </a:spcAft>
              <a:buClrTx/>
              <a:buSzTx/>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285750" indent="-285750" eaLnBrk="0" fontAlgn="base" hangingPunct="0">
              <a:spcBef>
                <a:spcPct val="0"/>
              </a:spcBef>
              <a:spcAft>
                <a:spcPct val="0"/>
              </a:spcAft>
              <a:buClrTx/>
              <a:buSzTx/>
            </a:pPr>
            <a:r>
              <a:rPr kumimoji="0" lang="en-US" altLang="en-US" sz="2200" b="1" i="0" u="none" strike="noStrike" cap="none" normalizeH="0" baseline="0" dirty="0">
                <a:ln>
                  <a:noFill/>
                </a:ln>
                <a:solidFill>
                  <a:schemeClr val="tx1"/>
                </a:solidFill>
                <a:effectLst/>
                <a:latin typeface="Arial" panose="020B0604020202020204" pitchFamily="34" charset="0"/>
              </a:rPr>
              <a:t>Cloud-Based Analytics:</a:t>
            </a:r>
            <a:br>
              <a:rPr kumimoji="0" lang="en-US" altLang="en-US" sz="2200" b="0" i="0" u="none" strike="noStrike" cap="none" normalizeH="0" baseline="0" dirty="0">
                <a:ln>
                  <a:noFill/>
                </a:ln>
                <a:solidFill>
                  <a:schemeClr val="tx1"/>
                </a:solidFill>
                <a:effectLst/>
                <a:latin typeface="Arial" panose="020B0604020202020204" pitchFamily="34" charset="0"/>
              </a:rPr>
            </a:br>
            <a:r>
              <a:rPr kumimoji="0" lang="en-US" altLang="en-US" sz="2200" b="0" i="0" u="none" strike="noStrike" cap="none" normalizeH="0" baseline="0" dirty="0">
                <a:ln>
                  <a:noFill/>
                </a:ln>
                <a:solidFill>
                  <a:schemeClr val="tx1"/>
                </a:solidFill>
                <a:effectLst/>
                <a:latin typeface="Arial" panose="020B0604020202020204" pitchFamily="34" charset="0"/>
              </a:rPr>
              <a:t>Supports long-term data analysis and predictive security insights</a:t>
            </a:r>
          </a:p>
          <a:p>
            <a:pPr marL="285750" indent="-285750" eaLnBrk="0" fontAlgn="base" hangingPunct="0">
              <a:spcBef>
                <a:spcPct val="0"/>
              </a:spcBef>
              <a:spcAft>
                <a:spcPct val="0"/>
              </a:spcAft>
              <a:buClrTx/>
              <a:buSzTx/>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285750" indent="-285750" eaLnBrk="0" fontAlgn="base" hangingPunct="0">
              <a:spcBef>
                <a:spcPct val="0"/>
              </a:spcBef>
              <a:spcAft>
                <a:spcPct val="0"/>
              </a:spcAft>
              <a:buClrTx/>
              <a:buSzTx/>
            </a:pPr>
            <a:r>
              <a:rPr kumimoji="0" lang="en-US" altLang="en-US" sz="2200" b="1" i="0" u="none" strike="noStrike" cap="none" normalizeH="0" baseline="0" dirty="0">
                <a:ln>
                  <a:noFill/>
                </a:ln>
                <a:solidFill>
                  <a:schemeClr val="tx1"/>
                </a:solidFill>
                <a:effectLst/>
                <a:latin typeface="Arial" panose="020B0604020202020204" pitchFamily="34" charset="0"/>
              </a:rPr>
              <a:t>Mobile Application Integration:</a:t>
            </a:r>
            <a:br>
              <a:rPr kumimoji="0" lang="en-US" altLang="en-US" sz="2200" b="0" i="0" u="none" strike="noStrike" cap="none" normalizeH="0" baseline="0" dirty="0">
                <a:ln>
                  <a:noFill/>
                </a:ln>
                <a:solidFill>
                  <a:schemeClr val="tx1"/>
                </a:solidFill>
                <a:effectLst/>
                <a:latin typeface="Arial" panose="020B0604020202020204" pitchFamily="34" charset="0"/>
              </a:rPr>
            </a:br>
            <a:r>
              <a:rPr kumimoji="0" lang="en-US" altLang="en-US" sz="2200" b="0" i="0" u="none" strike="noStrike" cap="none" normalizeH="0" baseline="0" dirty="0">
                <a:ln>
                  <a:noFill/>
                </a:ln>
                <a:solidFill>
                  <a:schemeClr val="tx1"/>
                </a:solidFill>
                <a:effectLst/>
                <a:latin typeface="Arial" panose="020B0604020202020204" pitchFamily="34" charset="0"/>
              </a:rPr>
              <a:t>Provides real-time alerts, live streaming, and remote control</a:t>
            </a:r>
          </a:p>
          <a:p>
            <a:pPr marL="285750" indent="-285750" eaLnBrk="0" fontAlgn="base" hangingPunct="0">
              <a:spcBef>
                <a:spcPct val="0"/>
              </a:spcBef>
              <a:spcAft>
                <a:spcPct val="0"/>
              </a:spcAft>
              <a:buClrTx/>
              <a:buSzTx/>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285750" indent="-285750" eaLnBrk="0" fontAlgn="base" hangingPunct="0">
              <a:spcBef>
                <a:spcPct val="0"/>
              </a:spcBef>
              <a:spcAft>
                <a:spcPct val="0"/>
              </a:spcAft>
              <a:buClrTx/>
              <a:buSzTx/>
            </a:pPr>
            <a:r>
              <a:rPr kumimoji="0" lang="en-US" altLang="en-US" sz="2200" b="1" i="0" u="none" strike="noStrike" cap="none" normalizeH="0" baseline="0" dirty="0">
                <a:ln>
                  <a:noFill/>
                </a:ln>
                <a:solidFill>
                  <a:schemeClr val="tx1"/>
                </a:solidFill>
                <a:effectLst/>
                <a:latin typeface="Arial" panose="020B0604020202020204" pitchFamily="34" charset="0"/>
              </a:rPr>
              <a:t>Edge AI Acceleration:</a:t>
            </a:r>
            <a:br>
              <a:rPr kumimoji="0" lang="en-US" altLang="en-US" sz="2200" b="0" i="0" u="none" strike="noStrike" cap="none" normalizeH="0" baseline="0" dirty="0">
                <a:ln>
                  <a:noFill/>
                </a:ln>
                <a:solidFill>
                  <a:schemeClr val="tx1"/>
                </a:solidFill>
                <a:effectLst/>
                <a:latin typeface="Arial" panose="020B0604020202020204" pitchFamily="34" charset="0"/>
              </a:rPr>
            </a:br>
            <a:r>
              <a:rPr kumimoji="0" lang="en-US" altLang="en-US" sz="2200" b="0" i="0" u="none" strike="noStrike" cap="none" normalizeH="0" baseline="0" dirty="0">
                <a:ln>
                  <a:noFill/>
                </a:ln>
                <a:solidFill>
                  <a:schemeClr val="tx1"/>
                </a:solidFill>
                <a:effectLst/>
                <a:latin typeface="Arial" panose="020B0604020202020204" pitchFamily="34" charset="0"/>
              </a:rPr>
              <a:t>Improves inference speed using hardware accelerators for real-time performance</a:t>
            </a:r>
          </a:p>
          <a:p>
            <a:pPr marL="25400" indent="0" algn="just">
              <a:buNone/>
            </a:pPr>
            <a:endParaRPr sz="4000" dirty="0"/>
          </a:p>
        </p:txBody>
      </p:sp>
    </p:spTree>
    <p:extLst>
      <p:ext uri="{BB962C8B-B14F-4D97-AF65-F5344CB8AC3E}">
        <p14:creationId xmlns:p14="http://schemas.microsoft.com/office/powerpoint/2010/main" val="19460484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4"/>
          <p:cNvSpPr txBox="1">
            <a:spLocks noGrp="1"/>
          </p:cNvSpPr>
          <p:nvPr>
            <p:ph type="title"/>
          </p:nvPr>
        </p:nvSpPr>
        <p:spPr>
          <a:xfrm>
            <a:off x="495300" y="274638"/>
            <a:ext cx="9185729" cy="1143000"/>
          </a:xfrm>
          <a:prstGeom prst="rect">
            <a:avLst/>
          </a:prstGeom>
          <a:noFill/>
          <a:ln>
            <a:noFill/>
          </a:ln>
        </p:spPr>
        <p:txBody>
          <a:bodyPr spcFirstLastPara="1" wrap="square" lIns="91425" tIns="45700" rIns="91425" bIns="45700" anchor="t" anchorCtr="0">
            <a:noAutofit/>
          </a:bodyPr>
          <a:lstStyle/>
          <a:p>
            <a:pPr lvl="0"/>
            <a:r>
              <a:rPr lang="en-US" sz="3200" b="1" dirty="0">
                <a:solidFill>
                  <a:srgbClr val="0070C0"/>
                </a:solidFill>
              </a:rPr>
              <a:t>R</a:t>
            </a:r>
            <a:r>
              <a:rPr lang="en-US" sz="3600" b="1" dirty="0">
                <a:solidFill>
                  <a:srgbClr val="0070C0"/>
                </a:solidFill>
              </a:rPr>
              <a:t>eferences</a:t>
            </a:r>
            <a:endParaRPr sz="3600" b="1" dirty="0">
              <a:solidFill>
                <a:srgbClr val="0070C0"/>
              </a:solidFill>
            </a:endParaRPr>
          </a:p>
        </p:txBody>
      </p:sp>
      <p:sp>
        <p:nvSpPr>
          <p:cNvPr id="2" name="Text Placeholder 1">
            <a:extLst>
              <a:ext uri="{FF2B5EF4-FFF2-40B4-BE49-F238E27FC236}">
                <a16:creationId xmlns:a16="http://schemas.microsoft.com/office/drawing/2014/main" id="{540C2E43-AB03-6032-9D6A-F2DBDC931320}"/>
              </a:ext>
            </a:extLst>
          </p:cNvPr>
          <p:cNvSpPr>
            <a:spLocks noGrp="1"/>
          </p:cNvSpPr>
          <p:nvPr>
            <p:ph idx="1"/>
          </p:nvPr>
        </p:nvSpPr>
        <p:spPr>
          <a:xfrm>
            <a:off x="630464" y="1090104"/>
            <a:ext cx="8915400" cy="5271399"/>
          </a:xfrm>
        </p:spPr>
        <p:txBody>
          <a:bodyPr>
            <a:normAutofit lnSpcReduction="10000"/>
          </a:bodyPr>
          <a:lstStyle/>
          <a:p>
            <a:pPr marL="0" marR="0" lvl="0" indent="0" algn="l" defTabSz="914400" rtl="0" eaLnBrk="1" fontAlgn="auto" latinLnBrk="0" hangingPunct="1">
              <a:lnSpc>
                <a:spcPct val="100000"/>
              </a:lnSpc>
              <a:spcBef>
                <a:spcPts val="640"/>
              </a:spcBef>
              <a:spcAft>
                <a:spcPts val="0"/>
              </a:spcAft>
              <a:buClr>
                <a:srgbClr val="000000"/>
              </a:buClr>
              <a:buSzPts val="3200"/>
              <a:buFont typeface="Arial"/>
              <a:buNone/>
              <a:tabLst/>
              <a:defRPr/>
            </a:pPr>
            <a:r>
              <a:rPr kumimoji="0" lang="en-US" sz="1400" b="0" i="0" u="none" strike="noStrike" kern="0" cap="none" spc="0" normalizeH="0" baseline="0" noProof="0" dirty="0">
                <a:ln>
                  <a:noFill/>
                </a:ln>
                <a:solidFill>
                  <a:srgbClr val="000000"/>
                </a:solidFill>
                <a:effectLst/>
                <a:uLnTx/>
                <a:uFillTx/>
                <a:latin typeface="Calibri"/>
                <a:cs typeface="Calibri"/>
              </a:rPr>
              <a:t>[</a:t>
            </a:r>
            <a:r>
              <a:rPr kumimoji="0" lang="en-US" sz="1600" b="0" i="0" u="none" strike="noStrike" kern="0" cap="none" spc="0" normalizeH="0" baseline="0" noProof="0" dirty="0">
                <a:ln>
                  <a:noFill/>
                </a:ln>
                <a:solidFill>
                  <a:srgbClr val="000000"/>
                </a:solidFill>
                <a:effectLst/>
                <a:uLnTx/>
                <a:uFillTx/>
                <a:latin typeface="Calibri"/>
                <a:cs typeface="Calibri"/>
              </a:rPr>
              <a:t>1] X. Liu, Y. Zhang, and H. Li, “Edge AI for Real-Time Surveillance: Challenges and Opportunities,” </a:t>
            </a:r>
            <a:r>
              <a:rPr kumimoji="0" lang="en-US" sz="1600" b="0" i="1" u="none" strike="noStrike" kern="0" cap="none" spc="0" normalizeH="0" baseline="0" noProof="0" dirty="0">
                <a:ln>
                  <a:noFill/>
                </a:ln>
                <a:solidFill>
                  <a:srgbClr val="000000"/>
                </a:solidFill>
                <a:effectLst/>
                <a:uLnTx/>
                <a:uFillTx/>
                <a:latin typeface="Calibri"/>
                <a:cs typeface="Calibri"/>
              </a:rPr>
              <a:t>IEEE Internet of Things Journal</a:t>
            </a:r>
            <a:r>
              <a:rPr kumimoji="0" lang="en-US" sz="1600" b="0" i="0" u="none" strike="noStrike" kern="0" cap="none" spc="0" normalizeH="0" baseline="0" noProof="0" dirty="0">
                <a:ln>
                  <a:noFill/>
                </a:ln>
                <a:solidFill>
                  <a:srgbClr val="000000"/>
                </a:solidFill>
                <a:effectLst/>
                <a:uLnTx/>
                <a:uFillTx/>
                <a:latin typeface="Calibri"/>
                <a:cs typeface="Calibri"/>
              </a:rPr>
              <a:t>, vol. 8, no. 4, pp. 2341–2354, 2021.</a:t>
            </a:r>
            <a:endParaRPr kumimoji="0" lang="en-US" sz="1600" b="0" i="1" u="none" strike="noStrike" kern="0" cap="none" spc="0" normalizeH="0" baseline="0" noProof="0" dirty="0">
              <a:ln>
                <a:noFill/>
              </a:ln>
              <a:solidFill>
                <a:srgbClr val="000000"/>
              </a:solidFill>
              <a:effectLst/>
              <a:uLnTx/>
              <a:uFillTx/>
              <a:latin typeface="Calibri"/>
              <a:cs typeface="Calibri"/>
            </a:endParaRPr>
          </a:p>
          <a:p>
            <a:pPr marL="0" marR="0" lvl="0" indent="0" algn="l" defTabSz="914400" rtl="0" eaLnBrk="1" fontAlgn="auto" latinLnBrk="0" hangingPunct="1">
              <a:lnSpc>
                <a:spcPct val="100000"/>
              </a:lnSpc>
              <a:spcBef>
                <a:spcPts val="640"/>
              </a:spcBef>
              <a:spcAft>
                <a:spcPts val="0"/>
              </a:spcAft>
              <a:buClr>
                <a:srgbClr val="000000"/>
              </a:buClr>
              <a:buSzPts val="3200"/>
              <a:buFont typeface="Arial"/>
              <a:buNone/>
              <a:tabLst/>
              <a:defRPr/>
            </a:pPr>
            <a:r>
              <a:rPr kumimoji="0" lang="en-US" sz="1600" b="0" i="0" u="none" strike="noStrike" kern="0" cap="none" spc="0" normalizeH="0" baseline="0" noProof="0" dirty="0">
                <a:ln>
                  <a:noFill/>
                </a:ln>
                <a:solidFill>
                  <a:srgbClr val="000000"/>
                </a:solidFill>
                <a:effectLst/>
                <a:uLnTx/>
                <a:uFillTx/>
                <a:latin typeface="Calibri"/>
                <a:cs typeface="Calibri"/>
              </a:rPr>
              <a:t>[2] H. B. McMahan, E. Moore, D. Ramage, and B. A. </a:t>
            </a:r>
            <a:r>
              <a:rPr kumimoji="0" lang="en-US" sz="1600" b="0" i="0" u="none" strike="noStrike" kern="0" cap="none" spc="0" normalizeH="0" baseline="0" noProof="0" dirty="0" err="1">
                <a:ln>
                  <a:noFill/>
                </a:ln>
                <a:solidFill>
                  <a:srgbClr val="000000"/>
                </a:solidFill>
                <a:effectLst/>
                <a:uLnTx/>
                <a:uFillTx/>
                <a:latin typeface="Calibri"/>
                <a:cs typeface="Calibri"/>
              </a:rPr>
              <a:t>Arcas</a:t>
            </a:r>
            <a:r>
              <a:rPr kumimoji="0" lang="en-US" sz="1600" b="0" i="0" u="none" strike="noStrike" kern="0" cap="none" spc="0" normalizeH="0" baseline="0" noProof="0" dirty="0">
                <a:ln>
                  <a:noFill/>
                </a:ln>
                <a:solidFill>
                  <a:srgbClr val="000000"/>
                </a:solidFill>
                <a:effectLst/>
                <a:uLnTx/>
                <a:uFillTx/>
                <a:latin typeface="Calibri"/>
                <a:cs typeface="Calibri"/>
              </a:rPr>
              <a:t>, “Communication-Efficient Learning of Deep Networks from Decentralized Data,” in </a:t>
            </a:r>
            <a:r>
              <a:rPr kumimoji="0" lang="en-US" sz="1600" b="0" i="1" u="none" strike="noStrike" kern="0" cap="none" spc="0" normalizeH="0" baseline="0" noProof="0" dirty="0">
                <a:ln>
                  <a:noFill/>
                </a:ln>
                <a:solidFill>
                  <a:srgbClr val="000000"/>
                </a:solidFill>
                <a:effectLst/>
                <a:uLnTx/>
                <a:uFillTx/>
                <a:latin typeface="Calibri"/>
                <a:cs typeface="Calibri"/>
              </a:rPr>
              <a:t>Proc. 20th Int. Conf. Artificial Intelligence and Statistics (AISTATS)</a:t>
            </a:r>
            <a:r>
              <a:rPr kumimoji="0" lang="en-US" sz="1600" b="0" i="0" u="none" strike="noStrike" kern="0" cap="none" spc="0" normalizeH="0" baseline="0" noProof="0" dirty="0">
                <a:ln>
                  <a:noFill/>
                </a:ln>
                <a:solidFill>
                  <a:srgbClr val="000000"/>
                </a:solidFill>
                <a:effectLst/>
                <a:uLnTx/>
                <a:uFillTx/>
                <a:latin typeface="Calibri"/>
                <a:cs typeface="Calibri"/>
              </a:rPr>
              <a:t>, 2017, pp. 1273–1282.</a:t>
            </a:r>
          </a:p>
          <a:p>
            <a:pPr marL="0" marR="0" lvl="0" indent="0" algn="l" defTabSz="914400" rtl="0" eaLnBrk="1" fontAlgn="auto" latinLnBrk="0" hangingPunct="1">
              <a:lnSpc>
                <a:spcPct val="100000"/>
              </a:lnSpc>
              <a:spcBef>
                <a:spcPts val="640"/>
              </a:spcBef>
              <a:spcAft>
                <a:spcPts val="0"/>
              </a:spcAft>
              <a:buClr>
                <a:srgbClr val="000000"/>
              </a:buClr>
              <a:buSzPts val="3200"/>
              <a:buFont typeface="Arial"/>
              <a:buNone/>
              <a:tabLst/>
              <a:defRPr/>
            </a:pPr>
            <a:r>
              <a:rPr kumimoji="0" lang="en-US" sz="1600" b="0" i="0" u="none" strike="noStrike" kern="0" cap="none" spc="0" normalizeH="0" baseline="0" noProof="0" dirty="0">
                <a:ln>
                  <a:noFill/>
                </a:ln>
                <a:solidFill>
                  <a:srgbClr val="000000"/>
                </a:solidFill>
                <a:effectLst/>
                <a:uLnTx/>
                <a:uFillTx/>
                <a:latin typeface="Calibri"/>
                <a:cs typeface="Calibri"/>
              </a:rPr>
              <a:t>[3] C. Banbury, V. </a:t>
            </a:r>
            <a:r>
              <a:rPr kumimoji="0" lang="en-US" sz="1600" b="0" i="0" u="none" strike="noStrike" kern="0" cap="none" spc="0" normalizeH="0" baseline="0" noProof="0" dirty="0" err="1">
                <a:ln>
                  <a:noFill/>
                </a:ln>
                <a:solidFill>
                  <a:srgbClr val="000000"/>
                </a:solidFill>
                <a:effectLst/>
                <a:uLnTx/>
                <a:uFillTx/>
                <a:latin typeface="Calibri"/>
                <a:cs typeface="Calibri"/>
              </a:rPr>
              <a:t>Reddi</a:t>
            </a:r>
            <a:r>
              <a:rPr kumimoji="0" lang="en-US" sz="1600" b="0" i="0" u="none" strike="noStrike" kern="0" cap="none" spc="0" normalizeH="0" baseline="0" noProof="0" dirty="0">
                <a:ln>
                  <a:noFill/>
                </a:ln>
                <a:solidFill>
                  <a:srgbClr val="000000"/>
                </a:solidFill>
                <a:effectLst/>
                <a:uLnTx/>
                <a:uFillTx/>
                <a:latin typeface="Calibri"/>
                <a:cs typeface="Calibri"/>
              </a:rPr>
              <a:t>, and J. Holleman, “Benchmarking </a:t>
            </a:r>
            <a:r>
              <a:rPr kumimoji="0" lang="en-US" sz="1600" b="0" i="0" u="none" strike="noStrike" kern="0" cap="none" spc="0" normalizeH="0" baseline="0" noProof="0" dirty="0" err="1">
                <a:ln>
                  <a:noFill/>
                </a:ln>
                <a:solidFill>
                  <a:srgbClr val="000000"/>
                </a:solidFill>
                <a:effectLst/>
                <a:uLnTx/>
                <a:uFillTx/>
                <a:latin typeface="Calibri"/>
                <a:cs typeface="Calibri"/>
              </a:rPr>
              <a:t>TinyML</a:t>
            </a:r>
            <a:r>
              <a:rPr kumimoji="0" lang="en-US" sz="1600" b="0" i="0" u="none" strike="noStrike" kern="0" cap="none" spc="0" normalizeH="0" baseline="0" noProof="0" dirty="0">
                <a:ln>
                  <a:noFill/>
                </a:ln>
                <a:solidFill>
                  <a:srgbClr val="000000"/>
                </a:solidFill>
                <a:effectLst/>
                <a:uLnTx/>
                <a:uFillTx/>
                <a:latin typeface="Calibri"/>
                <a:cs typeface="Calibri"/>
              </a:rPr>
              <a:t> Systems: Challenges and Opportunities,” </a:t>
            </a:r>
            <a:r>
              <a:rPr kumimoji="0" lang="en-US" sz="1600" b="0" i="1" u="none" strike="noStrike" kern="0" cap="none" spc="0" normalizeH="0" baseline="0" noProof="0" dirty="0" err="1">
                <a:ln>
                  <a:noFill/>
                </a:ln>
                <a:solidFill>
                  <a:srgbClr val="000000"/>
                </a:solidFill>
                <a:effectLst/>
                <a:uLnTx/>
                <a:uFillTx/>
                <a:latin typeface="Calibri"/>
                <a:cs typeface="Calibri"/>
              </a:rPr>
              <a:t>arXiv</a:t>
            </a:r>
            <a:r>
              <a:rPr kumimoji="0" lang="en-US" sz="1600" b="0" i="1" u="none" strike="noStrike" kern="0" cap="none" spc="0" normalizeH="0" baseline="0" noProof="0" dirty="0">
                <a:ln>
                  <a:noFill/>
                </a:ln>
                <a:solidFill>
                  <a:srgbClr val="000000"/>
                </a:solidFill>
                <a:effectLst/>
                <a:uLnTx/>
                <a:uFillTx/>
                <a:latin typeface="Calibri"/>
                <a:cs typeface="Calibri"/>
              </a:rPr>
              <a:t> preprint arXiv:2003.04821</a:t>
            </a:r>
            <a:r>
              <a:rPr kumimoji="0" lang="en-US" sz="1600" b="0" i="0" u="none" strike="noStrike" kern="0" cap="none" spc="0" normalizeH="0" baseline="0" noProof="0" dirty="0">
                <a:ln>
                  <a:noFill/>
                </a:ln>
                <a:solidFill>
                  <a:srgbClr val="000000"/>
                </a:solidFill>
                <a:effectLst/>
                <a:uLnTx/>
                <a:uFillTx/>
                <a:latin typeface="Calibri"/>
                <a:cs typeface="Calibri"/>
              </a:rPr>
              <a:t>, 2020.</a:t>
            </a:r>
          </a:p>
          <a:p>
            <a:pPr marL="0" marR="0" lvl="0" indent="0" algn="l" defTabSz="914400" rtl="0" eaLnBrk="1" fontAlgn="auto" latinLnBrk="0" hangingPunct="1">
              <a:lnSpc>
                <a:spcPct val="100000"/>
              </a:lnSpc>
              <a:spcBef>
                <a:spcPts val="640"/>
              </a:spcBef>
              <a:spcAft>
                <a:spcPts val="0"/>
              </a:spcAft>
              <a:buClr>
                <a:srgbClr val="000000"/>
              </a:buClr>
              <a:buSzPts val="3200"/>
              <a:buFont typeface="Arial"/>
              <a:buNone/>
              <a:tabLst/>
              <a:defRPr/>
            </a:pPr>
            <a:r>
              <a:rPr kumimoji="0" lang="en-US" sz="1600" b="0" i="0" u="none" strike="noStrike" kern="0" cap="none" spc="0" normalizeH="0" baseline="0" noProof="0" dirty="0">
                <a:ln>
                  <a:noFill/>
                </a:ln>
                <a:solidFill>
                  <a:srgbClr val="000000"/>
                </a:solidFill>
                <a:effectLst/>
                <a:uLnTx/>
                <a:uFillTx/>
                <a:latin typeface="Calibri"/>
                <a:cs typeface="Calibri"/>
              </a:rPr>
              <a:t>[4] </a:t>
            </a:r>
            <a:r>
              <a:rPr kumimoji="0" lang="en-US" sz="1600" b="0" i="0" u="none" strike="noStrike" kern="0" cap="none" spc="0" normalizeH="0" baseline="0" noProof="0" dirty="0" err="1">
                <a:ln>
                  <a:noFill/>
                </a:ln>
                <a:solidFill>
                  <a:srgbClr val="000000"/>
                </a:solidFill>
                <a:effectLst/>
                <a:uLnTx/>
                <a:uFillTx/>
                <a:latin typeface="Calibri"/>
                <a:cs typeface="Calibri"/>
              </a:rPr>
              <a:t>TinyissimoYOLO</a:t>
            </a:r>
            <a:r>
              <a:rPr kumimoji="0" lang="en-US" sz="1600" b="0" i="0" u="none" strike="noStrike" kern="0" cap="none" spc="0" normalizeH="0" baseline="0" noProof="0" dirty="0">
                <a:ln>
                  <a:noFill/>
                </a:ln>
                <a:solidFill>
                  <a:srgbClr val="000000"/>
                </a:solidFill>
                <a:effectLst/>
                <a:uLnTx/>
                <a:uFillTx/>
                <a:latin typeface="Calibri"/>
                <a:cs typeface="Calibri"/>
              </a:rPr>
              <a:t>, “A Quantized Low-Memory </a:t>
            </a:r>
            <a:r>
              <a:rPr kumimoji="0" lang="en-US" sz="1600" b="0" i="0" u="none" strike="noStrike" kern="0" cap="none" spc="0" normalizeH="0" baseline="0" noProof="0" dirty="0" err="1">
                <a:ln>
                  <a:noFill/>
                </a:ln>
                <a:solidFill>
                  <a:srgbClr val="000000"/>
                </a:solidFill>
                <a:effectLst/>
                <a:uLnTx/>
                <a:uFillTx/>
                <a:latin typeface="Calibri"/>
                <a:cs typeface="Calibri"/>
              </a:rPr>
              <a:t>TinyML</a:t>
            </a:r>
            <a:r>
              <a:rPr kumimoji="0" lang="en-US" sz="1600" b="0" i="0" u="none" strike="noStrike" kern="0" cap="none" spc="0" normalizeH="0" baseline="0" noProof="0" dirty="0">
                <a:ln>
                  <a:noFill/>
                </a:ln>
                <a:solidFill>
                  <a:srgbClr val="000000"/>
                </a:solidFill>
                <a:effectLst/>
                <a:uLnTx/>
                <a:uFillTx/>
                <a:latin typeface="Calibri"/>
                <a:cs typeface="Calibri"/>
              </a:rPr>
              <a:t> Object Detection Network,” </a:t>
            </a:r>
            <a:r>
              <a:rPr kumimoji="0" lang="en-US" sz="1600" b="0" i="1" u="none" strike="noStrike" kern="0" cap="none" spc="0" normalizeH="0" baseline="0" noProof="0" dirty="0">
                <a:ln>
                  <a:noFill/>
                </a:ln>
                <a:solidFill>
                  <a:srgbClr val="000000"/>
                </a:solidFill>
                <a:effectLst/>
                <a:uLnTx/>
                <a:uFillTx/>
                <a:latin typeface="Calibri"/>
                <a:cs typeface="Calibri"/>
              </a:rPr>
              <a:t>IEEE Access</a:t>
            </a:r>
            <a:r>
              <a:rPr kumimoji="0" lang="en-US" sz="1600" b="0" i="0" u="none" strike="noStrike" kern="0" cap="none" spc="0" normalizeH="0" baseline="0" noProof="0" dirty="0">
                <a:ln>
                  <a:noFill/>
                </a:ln>
                <a:solidFill>
                  <a:srgbClr val="000000"/>
                </a:solidFill>
                <a:effectLst/>
                <a:uLnTx/>
                <a:uFillTx/>
                <a:latin typeface="Calibri"/>
                <a:cs typeface="Calibri"/>
              </a:rPr>
              <a:t>, 2024.</a:t>
            </a:r>
          </a:p>
          <a:p>
            <a:pPr marL="0" marR="0" lvl="0" indent="0" algn="l" defTabSz="914400" rtl="0" eaLnBrk="1" fontAlgn="auto" latinLnBrk="0" hangingPunct="1">
              <a:lnSpc>
                <a:spcPct val="100000"/>
              </a:lnSpc>
              <a:spcBef>
                <a:spcPts val="640"/>
              </a:spcBef>
              <a:spcAft>
                <a:spcPts val="0"/>
              </a:spcAft>
              <a:buClr>
                <a:srgbClr val="000000"/>
              </a:buClr>
              <a:buSzPts val="3200"/>
              <a:buFont typeface="Arial"/>
              <a:buNone/>
              <a:tabLst/>
              <a:defRPr/>
            </a:pPr>
            <a:r>
              <a:rPr kumimoji="0" lang="en-US" sz="1600" b="0" i="0" u="none" strike="noStrike" kern="0" cap="none" spc="0" normalizeH="0" baseline="0" noProof="0" dirty="0">
                <a:ln>
                  <a:noFill/>
                </a:ln>
                <a:solidFill>
                  <a:srgbClr val="000000"/>
                </a:solidFill>
                <a:effectLst/>
                <a:uLnTx/>
                <a:uFillTx/>
                <a:latin typeface="Calibri"/>
                <a:cs typeface="Calibri"/>
              </a:rPr>
              <a:t>[5] M. David, S. Kumar, and L. Chen, “Real-Time Object Detection on Low-Power Edge Devices Using </a:t>
            </a:r>
            <a:r>
              <a:rPr kumimoji="0" lang="en-US" sz="1600" b="0" i="0" u="none" strike="noStrike" kern="0" cap="none" spc="0" normalizeH="0" baseline="0" noProof="0" dirty="0" err="1">
                <a:ln>
                  <a:noFill/>
                </a:ln>
                <a:solidFill>
                  <a:srgbClr val="000000"/>
                </a:solidFill>
                <a:effectLst/>
                <a:uLnTx/>
                <a:uFillTx/>
                <a:latin typeface="Calibri"/>
                <a:cs typeface="Calibri"/>
              </a:rPr>
              <a:t>TinyML</a:t>
            </a:r>
            <a:r>
              <a:rPr kumimoji="0" lang="en-US" sz="1600" b="0" i="0" u="none" strike="noStrike" kern="0" cap="none" spc="0" normalizeH="0" baseline="0" noProof="0" dirty="0">
                <a:ln>
                  <a:noFill/>
                </a:ln>
                <a:solidFill>
                  <a:srgbClr val="000000"/>
                </a:solidFill>
                <a:effectLst/>
                <a:uLnTx/>
                <a:uFillTx/>
                <a:latin typeface="Calibri"/>
                <a:cs typeface="Calibri"/>
              </a:rPr>
              <a:t>,” </a:t>
            </a:r>
            <a:r>
              <a:rPr kumimoji="0" lang="en-US" sz="1600" b="0" i="1" u="none" strike="noStrike" kern="0" cap="none" spc="0" normalizeH="0" baseline="0" noProof="0" dirty="0">
                <a:ln>
                  <a:noFill/>
                </a:ln>
                <a:solidFill>
                  <a:srgbClr val="000000"/>
                </a:solidFill>
                <a:effectLst/>
                <a:uLnTx/>
                <a:uFillTx/>
                <a:latin typeface="Calibri"/>
                <a:cs typeface="Calibri"/>
              </a:rPr>
              <a:t>IEEE Trans. Neural </a:t>
            </a:r>
            <a:r>
              <a:rPr kumimoji="0" lang="en-US" sz="1600" b="0" i="1" u="none" strike="noStrike" kern="0" cap="none" spc="0" normalizeH="0" baseline="0" noProof="0" dirty="0" err="1">
                <a:ln>
                  <a:noFill/>
                </a:ln>
                <a:solidFill>
                  <a:srgbClr val="000000"/>
                </a:solidFill>
                <a:effectLst/>
                <a:uLnTx/>
                <a:uFillTx/>
                <a:latin typeface="Calibri"/>
                <a:cs typeface="Calibri"/>
              </a:rPr>
              <a:t>Netw</a:t>
            </a:r>
            <a:r>
              <a:rPr kumimoji="0" lang="en-US" sz="1600" b="0" i="1" u="none" strike="noStrike" kern="0" cap="none" spc="0" normalizeH="0" baseline="0" noProof="0" dirty="0">
                <a:ln>
                  <a:noFill/>
                </a:ln>
                <a:solidFill>
                  <a:srgbClr val="000000"/>
                </a:solidFill>
                <a:effectLst/>
                <a:uLnTx/>
                <a:uFillTx/>
                <a:latin typeface="Calibri"/>
                <a:cs typeface="Calibri"/>
              </a:rPr>
              <a:t>. Learn. Syst.</a:t>
            </a:r>
            <a:r>
              <a:rPr kumimoji="0" lang="en-US" sz="1600" b="0" i="0" u="none" strike="noStrike" kern="0" cap="none" spc="0" normalizeH="0" baseline="0" noProof="0" dirty="0">
                <a:ln>
                  <a:noFill/>
                </a:ln>
                <a:solidFill>
                  <a:srgbClr val="000000"/>
                </a:solidFill>
                <a:effectLst/>
                <a:uLnTx/>
                <a:uFillTx/>
                <a:latin typeface="Calibri"/>
                <a:cs typeface="Calibri"/>
              </a:rPr>
              <a:t>, vol. 33, no. 9, pp. 4562–4575, 2022.</a:t>
            </a:r>
          </a:p>
          <a:p>
            <a:pPr marL="0" marR="0" lvl="0" indent="0" algn="l" defTabSz="914400" rtl="0" eaLnBrk="1" fontAlgn="auto" latinLnBrk="0" hangingPunct="1">
              <a:lnSpc>
                <a:spcPct val="100000"/>
              </a:lnSpc>
              <a:spcBef>
                <a:spcPts val="640"/>
              </a:spcBef>
              <a:spcAft>
                <a:spcPts val="0"/>
              </a:spcAft>
              <a:buClr>
                <a:srgbClr val="000000"/>
              </a:buClr>
              <a:buSzPts val="3200"/>
              <a:buFont typeface="Arial"/>
              <a:buNone/>
              <a:tabLst/>
              <a:defRPr/>
            </a:pPr>
            <a:r>
              <a:rPr kumimoji="0" lang="en-US" sz="1600" b="0" i="0" u="none" strike="noStrike" kern="0" cap="none" spc="0" normalizeH="0" baseline="0" noProof="0" dirty="0">
                <a:ln>
                  <a:noFill/>
                </a:ln>
                <a:solidFill>
                  <a:srgbClr val="000000"/>
                </a:solidFill>
                <a:effectLst/>
                <a:uLnTx/>
                <a:uFillTx/>
                <a:latin typeface="Calibri"/>
                <a:cs typeface="Calibri"/>
              </a:rPr>
              <a:t>[6] N. D. Lane, S. Bhattacharya, and P. </a:t>
            </a:r>
            <a:r>
              <a:rPr kumimoji="0" lang="en-US" sz="1600" b="0" i="0" u="none" strike="noStrike" kern="0" cap="none" spc="0" normalizeH="0" baseline="0" noProof="0" dirty="0" err="1">
                <a:ln>
                  <a:noFill/>
                </a:ln>
                <a:solidFill>
                  <a:srgbClr val="000000"/>
                </a:solidFill>
                <a:effectLst/>
                <a:uLnTx/>
                <a:uFillTx/>
                <a:latin typeface="Calibri"/>
                <a:cs typeface="Calibri"/>
              </a:rPr>
              <a:t>Georgiev</a:t>
            </a:r>
            <a:r>
              <a:rPr kumimoji="0" lang="en-US" sz="1600" b="0" i="0" u="none" strike="noStrike" kern="0" cap="none" spc="0" normalizeH="0" baseline="0" noProof="0" dirty="0">
                <a:ln>
                  <a:noFill/>
                </a:ln>
                <a:solidFill>
                  <a:srgbClr val="000000"/>
                </a:solidFill>
                <a:effectLst/>
                <a:uLnTx/>
                <a:uFillTx/>
                <a:latin typeface="Calibri"/>
                <a:cs typeface="Calibri"/>
              </a:rPr>
              <a:t>, “Squeezing Deep Learning into Mobile and Embedded Devices,” </a:t>
            </a:r>
            <a:r>
              <a:rPr kumimoji="0" lang="en-US" sz="1600" b="0" i="1" u="none" strike="noStrike" kern="0" cap="none" spc="0" normalizeH="0" baseline="0" noProof="0" dirty="0">
                <a:ln>
                  <a:noFill/>
                </a:ln>
                <a:solidFill>
                  <a:srgbClr val="000000"/>
                </a:solidFill>
                <a:effectLst/>
                <a:uLnTx/>
                <a:uFillTx/>
                <a:latin typeface="Calibri"/>
                <a:cs typeface="Calibri"/>
              </a:rPr>
              <a:t>IEEE Pervasive Computing</a:t>
            </a:r>
            <a:r>
              <a:rPr kumimoji="0" lang="en-US" sz="1600" b="0" i="0" u="none" strike="noStrike" kern="0" cap="none" spc="0" normalizeH="0" baseline="0" noProof="0" dirty="0">
                <a:ln>
                  <a:noFill/>
                </a:ln>
                <a:solidFill>
                  <a:srgbClr val="000000"/>
                </a:solidFill>
                <a:effectLst/>
                <a:uLnTx/>
                <a:uFillTx/>
                <a:latin typeface="Calibri"/>
                <a:cs typeface="Calibri"/>
              </a:rPr>
              <a:t>, vol. 18, no. 4, pp. 82–88, 2019.</a:t>
            </a:r>
          </a:p>
          <a:p>
            <a:pPr marL="0" marR="0" lvl="0" indent="0" algn="l" defTabSz="914400" rtl="0" eaLnBrk="1" fontAlgn="auto" latinLnBrk="0" hangingPunct="1">
              <a:lnSpc>
                <a:spcPct val="100000"/>
              </a:lnSpc>
              <a:spcBef>
                <a:spcPts val="640"/>
              </a:spcBef>
              <a:spcAft>
                <a:spcPts val="0"/>
              </a:spcAft>
              <a:buClr>
                <a:srgbClr val="000000"/>
              </a:buClr>
              <a:buSzPts val="3200"/>
              <a:buFont typeface="Arial"/>
              <a:buNone/>
              <a:tabLst/>
              <a:defRPr/>
            </a:pPr>
            <a:r>
              <a:rPr kumimoji="0" lang="en-US" sz="1600" b="0" i="0" u="none" strike="noStrike" kern="0" cap="none" spc="0" normalizeH="0" baseline="0" noProof="0" dirty="0">
                <a:ln>
                  <a:noFill/>
                </a:ln>
                <a:solidFill>
                  <a:srgbClr val="000000"/>
                </a:solidFill>
                <a:effectLst/>
                <a:uLnTx/>
                <a:uFillTx/>
                <a:latin typeface="Calibri"/>
                <a:cs typeface="Calibri"/>
              </a:rPr>
              <a:t>[7] A. G. Howard, M. Zhu, B. Chen, et al., “</a:t>
            </a:r>
            <a:r>
              <a:rPr kumimoji="0" lang="en-US" sz="1600" b="0" i="0" u="none" strike="noStrike" kern="0" cap="none" spc="0" normalizeH="0" baseline="0" noProof="0" dirty="0" err="1">
                <a:ln>
                  <a:noFill/>
                </a:ln>
                <a:solidFill>
                  <a:srgbClr val="000000"/>
                </a:solidFill>
                <a:effectLst/>
                <a:uLnTx/>
                <a:uFillTx/>
                <a:latin typeface="Calibri"/>
                <a:cs typeface="Calibri"/>
              </a:rPr>
              <a:t>MobileNets</a:t>
            </a:r>
            <a:r>
              <a:rPr kumimoji="0" lang="en-US" sz="1600" b="0" i="0" u="none" strike="noStrike" kern="0" cap="none" spc="0" normalizeH="0" baseline="0" noProof="0" dirty="0">
                <a:ln>
                  <a:noFill/>
                </a:ln>
                <a:solidFill>
                  <a:srgbClr val="000000"/>
                </a:solidFill>
                <a:effectLst/>
                <a:uLnTx/>
                <a:uFillTx/>
                <a:latin typeface="Calibri"/>
                <a:cs typeface="Calibri"/>
              </a:rPr>
              <a:t>: Efficient Convolutional Neural Networks for Mobile Vision Applications,” </a:t>
            </a:r>
            <a:r>
              <a:rPr kumimoji="0" lang="en-US" sz="1600" b="0" i="1" u="none" strike="noStrike" kern="0" cap="none" spc="0" normalizeH="0" baseline="0" noProof="0" dirty="0" err="1">
                <a:ln>
                  <a:noFill/>
                </a:ln>
                <a:solidFill>
                  <a:srgbClr val="000000"/>
                </a:solidFill>
                <a:effectLst/>
                <a:uLnTx/>
                <a:uFillTx/>
                <a:latin typeface="Calibri"/>
                <a:cs typeface="Calibri"/>
              </a:rPr>
              <a:t>arXiv</a:t>
            </a:r>
            <a:r>
              <a:rPr kumimoji="0" lang="en-US" sz="1600" b="0" i="1" u="none" strike="noStrike" kern="0" cap="none" spc="0" normalizeH="0" baseline="0" noProof="0" dirty="0">
                <a:ln>
                  <a:noFill/>
                </a:ln>
                <a:solidFill>
                  <a:srgbClr val="000000"/>
                </a:solidFill>
                <a:effectLst/>
                <a:uLnTx/>
                <a:uFillTx/>
                <a:latin typeface="Calibri"/>
                <a:cs typeface="Calibri"/>
              </a:rPr>
              <a:t> preprint arXiv:1704.04861</a:t>
            </a:r>
            <a:r>
              <a:rPr kumimoji="0" lang="en-US" sz="1600" b="0" i="0" u="none" strike="noStrike" kern="0" cap="none" spc="0" normalizeH="0" baseline="0" noProof="0" dirty="0">
                <a:ln>
                  <a:noFill/>
                </a:ln>
                <a:solidFill>
                  <a:srgbClr val="000000"/>
                </a:solidFill>
                <a:effectLst/>
                <a:uLnTx/>
                <a:uFillTx/>
                <a:latin typeface="Calibri"/>
                <a:cs typeface="Calibri"/>
              </a:rPr>
              <a:t>, 2017.</a:t>
            </a:r>
          </a:p>
          <a:p>
            <a:pPr marL="0" marR="0" lvl="0" indent="0" algn="l" defTabSz="914400" rtl="0" eaLnBrk="1" fontAlgn="auto" latinLnBrk="0" hangingPunct="1">
              <a:lnSpc>
                <a:spcPct val="100000"/>
              </a:lnSpc>
              <a:spcBef>
                <a:spcPts val="640"/>
              </a:spcBef>
              <a:spcAft>
                <a:spcPts val="0"/>
              </a:spcAft>
              <a:buClr>
                <a:srgbClr val="000000"/>
              </a:buClr>
              <a:buSzPts val="3200"/>
              <a:buFont typeface="Arial"/>
              <a:buNone/>
              <a:tabLst/>
              <a:defRPr/>
            </a:pPr>
            <a:r>
              <a:rPr kumimoji="0" lang="en-US" sz="1600" b="0" i="0" u="none" strike="noStrike" kern="0" cap="none" spc="0" normalizeH="0" baseline="0" noProof="0" dirty="0">
                <a:ln>
                  <a:noFill/>
                </a:ln>
                <a:solidFill>
                  <a:srgbClr val="000000"/>
                </a:solidFill>
                <a:effectLst/>
                <a:uLnTx/>
                <a:uFillTx/>
                <a:latin typeface="Calibri"/>
                <a:cs typeface="Calibri"/>
              </a:rPr>
              <a:t>[8] X. Zhang, X. Zhou, M. Lin, and J. Sun, “</a:t>
            </a:r>
            <a:r>
              <a:rPr kumimoji="0" lang="en-US" sz="1600" b="0" i="0" u="none" strike="noStrike" kern="0" cap="none" spc="0" normalizeH="0" baseline="0" noProof="0" dirty="0" err="1">
                <a:ln>
                  <a:noFill/>
                </a:ln>
                <a:solidFill>
                  <a:srgbClr val="000000"/>
                </a:solidFill>
                <a:effectLst/>
                <a:uLnTx/>
                <a:uFillTx/>
                <a:latin typeface="Calibri"/>
                <a:cs typeface="Calibri"/>
              </a:rPr>
              <a:t>ShuffleNet</a:t>
            </a:r>
            <a:r>
              <a:rPr kumimoji="0" lang="en-US" sz="1600" b="0" i="0" u="none" strike="noStrike" kern="0" cap="none" spc="0" normalizeH="0" baseline="0" noProof="0" dirty="0">
                <a:ln>
                  <a:noFill/>
                </a:ln>
                <a:solidFill>
                  <a:srgbClr val="000000"/>
                </a:solidFill>
                <a:effectLst/>
                <a:uLnTx/>
                <a:uFillTx/>
                <a:latin typeface="Calibri"/>
                <a:cs typeface="Calibri"/>
              </a:rPr>
              <a:t>: An Extremely Efficient Convolutional Neural Network for Mobile Devices,” in </a:t>
            </a:r>
            <a:r>
              <a:rPr kumimoji="0" lang="en-US" sz="1600" b="0" i="1" u="none" strike="noStrike" kern="0" cap="none" spc="0" normalizeH="0" baseline="0" noProof="0" dirty="0">
                <a:ln>
                  <a:noFill/>
                </a:ln>
                <a:solidFill>
                  <a:srgbClr val="000000"/>
                </a:solidFill>
                <a:effectLst/>
                <a:uLnTx/>
                <a:uFillTx/>
                <a:latin typeface="Calibri"/>
                <a:cs typeface="Calibri"/>
              </a:rPr>
              <a:t>Proc. IEEE Conf. Computer Vision and Pattern Recognition (CVPR)</a:t>
            </a:r>
            <a:r>
              <a:rPr kumimoji="0" lang="en-US" sz="1600" b="0" i="0" u="none" strike="noStrike" kern="0" cap="none" spc="0" normalizeH="0" baseline="0" noProof="0" dirty="0">
                <a:ln>
                  <a:noFill/>
                </a:ln>
                <a:solidFill>
                  <a:srgbClr val="000000"/>
                </a:solidFill>
                <a:effectLst/>
                <a:uLnTx/>
                <a:uFillTx/>
                <a:latin typeface="Calibri"/>
                <a:cs typeface="Calibri"/>
              </a:rPr>
              <a:t>, 2018, pp. 6848–6856.</a:t>
            </a:r>
          </a:p>
          <a:p>
            <a:pPr marL="508000" lvl="1" indent="0">
              <a:buNone/>
            </a:pPr>
            <a:r>
              <a:rPr lang="en-US" dirty="0"/>
              <a:t> </a:t>
            </a:r>
          </a:p>
          <a:p>
            <a:pPr marL="25400" indent="0">
              <a:buNone/>
            </a:pPr>
            <a:r>
              <a:rPr lang="en-US" dirty="0"/>
              <a:t> </a:t>
            </a:r>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4"/>
          <p:cNvSpPr txBox="1">
            <a:spLocks noGrp="1"/>
          </p:cNvSpPr>
          <p:nvPr>
            <p:ph type="title"/>
          </p:nvPr>
        </p:nvSpPr>
        <p:spPr>
          <a:xfrm>
            <a:off x="495300" y="274638"/>
            <a:ext cx="9185729" cy="1143000"/>
          </a:xfrm>
          <a:prstGeom prst="rect">
            <a:avLst/>
          </a:prstGeom>
          <a:noFill/>
          <a:ln>
            <a:noFill/>
          </a:ln>
        </p:spPr>
        <p:txBody>
          <a:bodyPr spcFirstLastPara="1" wrap="square" lIns="91425" tIns="45700" rIns="91425" bIns="45700" anchor="t" anchorCtr="0">
            <a:noAutofit/>
          </a:bodyPr>
          <a:lstStyle/>
          <a:p>
            <a:pPr lvl="0"/>
            <a:r>
              <a:rPr lang="en-US" sz="3200" b="1" dirty="0">
                <a:solidFill>
                  <a:srgbClr val="0070C0"/>
                </a:solidFill>
              </a:rPr>
              <a:t>R</a:t>
            </a:r>
            <a:r>
              <a:rPr lang="en-US" sz="3600" b="1" dirty="0">
                <a:solidFill>
                  <a:srgbClr val="0070C0"/>
                </a:solidFill>
              </a:rPr>
              <a:t>eferences</a:t>
            </a:r>
            <a:endParaRPr sz="3600" b="1" dirty="0">
              <a:solidFill>
                <a:srgbClr val="0070C0"/>
              </a:solidFill>
            </a:endParaRPr>
          </a:p>
        </p:txBody>
      </p:sp>
      <p:sp>
        <p:nvSpPr>
          <p:cNvPr id="2" name="Text Placeholder 1">
            <a:extLst>
              <a:ext uri="{FF2B5EF4-FFF2-40B4-BE49-F238E27FC236}">
                <a16:creationId xmlns:a16="http://schemas.microsoft.com/office/drawing/2014/main" id="{540C2E43-AB03-6032-9D6A-F2DBDC931320}"/>
              </a:ext>
            </a:extLst>
          </p:cNvPr>
          <p:cNvSpPr>
            <a:spLocks noGrp="1"/>
          </p:cNvSpPr>
          <p:nvPr>
            <p:ph idx="1"/>
          </p:nvPr>
        </p:nvSpPr>
        <p:spPr>
          <a:xfrm>
            <a:off x="630464" y="1090104"/>
            <a:ext cx="8915400" cy="5271399"/>
          </a:xfrm>
        </p:spPr>
        <p:txBody>
          <a:bodyPr/>
          <a:lstStyle/>
          <a:p>
            <a:pPr marL="0" indent="0">
              <a:buNone/>
              <a:defRPr/>
            </a:pPr>
            <a:r>
              <a:rPr lang="en-GB" sz="1400" dirty="0"/>
              <a:t>[9] P. </a:t>
            </a:r>
            <a:r>
              <a:rPr lang="en-GB" sz="1400" dirty="0" err="1"/>
              <a:t>Saha</a:t>
            </a:r>
            <a:r>
              <a:rPr lang="en-GB" sz="1400" dirty="0"/>
              <a:t> and A. Roy, “Integrating Edge AI and IoT for Smart Surveillance Systems,” </a:t>
            </a:r>
            <a:r>
              <a:rPr lang="en-GB" sz="1400" i="1" dirty="0"/>
              <a:t>Sensors</a:t>
            </a:r>
            <a:r>
              <a:rPr lang="en-GB" sz="1400" dirty="0"/>
              <a:t>, vol. 23, no. 2, pp. 1024–1039, 2023.</a:t>
            </a:r>
          </a:p>
          <a:p>
            <a:pPr marL="0" indent="0">
              <a:buNone/>
              <a:defRPr/>
            </a:pPr>
            <a:r>
              <a:rPr lang="en-GB" sz="1400" dirty="0"/>
              <a:t>[10] V. J. </a:t>
            </a:r>
            <a:r>
              <a:rPr lang="en-GB" sz="1400" dirty="0" err="1"/>
              <a:t>Reddi</a:t>
            </a:r>
            <a:r>
              <a:rPr lang="en-GB" sz="1400" dirty="0"/>
              <a:t>, C. Banbury, P. Warden, et al., “The </a:t>
            </a:r>
            <a:r>
              <a:rPr lang="en-GB" sz="1400" dirty="0" err="1"/>
              <a:t>TinyML</a:t>
            </a:r>
            <a:r>
              <a:rPr lang="en-GB" sz="1400" dirty="0"/>
              <a:t> Benchmark Suite,” in </a:t>
            </a:r>
            <a:r>
              <a:rPr lang="en-GB" sz="1400" i="1" dirty="0"/>
              <a:t>Proc. 4th </a:t>
            </a:r>
            <a:r>
              <a:rPr lang="en-GB" sz="1400" i="1" dirty="0" err="1"/>
              <a:t>MLSys</a:t>
            </a:r>
            <a:r>
              <a:rPr lang="en-GB" sz="1400" i="1" dirty="0"/>
              <a:t> Conf.</a:t>
            </a:r>
            <a:r>
              <a:rPr lang="en-GB" sz="1400" dirty="0"/>
              <a:t>, 2021, pp. 1–13.</a:t>
            </a:r>
          </a:p>
          <a:p>
            <a:pPr marL="0" indent="0">
              <a:buNone/>
              <a:defRPr/>
            </a:pPr>
            <a:r>
              <a:rPr lang="en-GB" sz="1400" dirty="0"/>
              <a:t>[11] A. Gupta and R. Patel, “Federated Learning for Edge-Based Security Systems,” </a:t>
            </a:r>
            <a:r>
              <a:rPr lang="en-GB" sz="1400" i="1" dirty="0"/>
              <a:t>IEEE Access</a:t>
            </a:r>
            <a:r>
              <a:rPr lang="en-GB" sz="1400" dirty="0"/>
              <a:t>, vol. 8, pp. 207484–207497, 2020.</a:t>
            </a:r>
          </a:p>
          <a:p>
            <a:pPr marL="0" indent="0">
              <a:buNone/>
              <a:defRPr/>
            </a:pPr>
            <a:r>
              <a:rPr lang="en-GB" sz="1400" dirty="0"/>
              <a:t>[12] Google TensorFlow, “TensorFlow Lite Documentation,” </a:t>
            </a:r>
            <a:r>
              <a:rPr lang="en-GB" sz="1400" i="1" dirty="0"/>
              <a:t>TensorFlow.org</a:t>
            </a:r>
            <a:r>
              <a:rPr lang="en-GB" sz="1400" dirty="0"/>
              <a:t>, 2024. [Online]. Available: </a:t>
            </a:r>
          </a:p>
          <a:p>
            <a:pPr marL="0" indent="0">
              <a:buNone/>
              <a:defRPr/>
            </a:pPr>
            <a:r>
              <a:rPr lang="en-GB" sz="1400" dirty="0"/>
              <a:t>[13] </a:t>
            </a:r>
            <a:r>
              <a:rPr lang="en-GB" sz="1400" dirty="0" err="1"/>
              <a:t>Espressif</a:t>
            </a:r>
            <a:r>
              <a:rPr lang="en-GB" sz="1400" dirty="0"/>
              <a:t> Systems, “ESP32-CAM Technical Reference Manual,” </a:t>
            </a:r>
            <a:r>
              <a:rPr lang="en-GB" sz="1400" i="1" dirty="0" err="1"/>
              <a:t>Espressif</a:t>
            </a:r>
            <a:r>
              <a:rPr lang="en-GB" sz="1400" i="1" dirty="0"/>
              <a:t> Systems Official Documentation</a:t>
            </a:r>
            <a:r>
              <a:rPr lang="en-GB" sz="1400" dirty="0"/>
              <a:t>, 2023. [Online]. Available: </a:t>
            </a:r>
          </a:p>
          <a:p>
            <a:pPr marL="0" indent="0">
              <a:buNone/>
              <a:defRPr/>
            </a:pPr>
            <a:r>
              <a:rPr lang="en-GB" sz="1400" dirty="0"/>
              <a:t>[14] Raspberry Pi Foundation, “Edge AI Applications with Raspberry Pi 4,” </a:t>
            </a:r>
            <a:r>
              <a:rPr lang="en-GB" sz="1400" i="1" dirty="0"/>
              <a:t>Raspberry Pi Documentation</a:t>
            </a:r>
            <a:r>
              <a:rPr lang="en-GB" sz="1400" dirty="0"/>
              <a:t>, 2024. [Online]. Available: </a:t>
            </a:r>
          </a:p>
          <a:p>
            <a:pPr marL="0" indent="0">
              <a:buNone/>
              <a:defRPr/>
            </a:pPr>
            <a:r>
              <a:rPr lang="en-GB" sz="1400" dirty="0"/>
              <a:t>[15] S. K. Verma and R. Mehta, “</a:t>
            </a:r>
            <a:r>
              <a:rPr lang="en-GB" sz="1400" dirty="0" err="1"/>
              <a:t>TinyML</a:t>
            </a:r>
            <a:r>
              <a:rPr lang="en-GB" sz="1400" dirty="0"/>
              <a:t> for Edge Intelligence: Opportunities and Challenges in Smart IoT Applications,” </a:t>
            </a:r>
            <a:r>
              <a:rPr lang="en-GB" sz="1400" i="1" dirty="0"/>
              <a:t>IEEE Access</a:t>
            </a:r>
            <a:r>
              <a:rPr lang="en-GB" sz="1400" dirty="0"/>
              <a:t>, vol. 12, pp. 118903–118917, 2024.</a:t>
            </a:r>
          </a:p>
          <a:p>
            <a:pPr marL="508000" lvl="1" indent="0">
              <a:buNone/>
            </a:pPr>
            <a:r>
              <a:rPr lang="en-US" dirty="0"/>
              <a:t> </a:t>
            </a:r>
          </a:p>
          <a:p>
            <a:pPr marL="25400" indent="0">
              <a:buNone/>
            </a:pPr>
            <a:r>
              <a:rPr lang="en-US" dirty="0"/>
              <a:t> </a:t>
            </a:r>
            <a:endParaRPr lang="en-IN" dirty="0"/>
          </a:p>
        </p:txBody>
      </p:sp>
    </p:spTree>
    <p:extLst>
      <p:ext uri="{BB962C8B-B14F-4D97-AF65-F5344CB8AC3E}">
        <p14:creationId xmlns:p14="http://schemas.microsoft.com/office/powerpoint/2010/main" val="2607138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5"/>
          <p:cNvSpPr txBox="1">
            <a:spLocks noGrp="1"/>
          </p:cNvSpPr>
          <p:nvPr>
            <p:ph type="ctrTitle"/>
          </p:nvPr>
        </p:nvSpPr>
        <p:spPr>
          <a:xfrm>
            <a:off x="742950" y="2644775"/>
            <a:ext cx="8420100" cy="1470025"/>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2"/>
              </a:buClr>
              <a:buSzPts val="4000"/>
              <a:buFont typeface="Calibri"/>
              <a:buNone/>
            </a:pPr>
            <a:r>
              <a:rPr lang="en-US" sz="4000" b="1">
                <a:solidFill>
                  <a:schemeClr val="dk2"/>
                </a:solidFill>
                <a:latin typeface="Calibri"/>
                <a:ea typeface="Calibri"/>
                <a:cs typeface="Calibri"/>
                <a:sym typeface="Calibri"/>
              </a:rPr>
              <a:t>Thank You</a:t>
            </a:r>
            <a:endParaRPr sz="4000" b="1">
              <a:solidFill>
                <a:schemeClr val="dk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1464</TotalTime>
  <Words>1711</Words>
  <Application>Microsoft Office PowerPoint</Application>
  <PresentationFormat>A4 Paper (210x297 mm)</PresentationFormat>
  <Paragraphs>229</Paragraphs>
  <Slides>27</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Arial</vt:lpstr>
      <vt:lpstr>Calibri</vt:lpstr>
      <vt:lpstr>Calibri Light</vt:lpstr>
      <vt:lpstr>Times New Roman</vt:lpstr>
      <vt:lpstr>Office Theme</vt:lpstr>
      <vt:lpstr>  SmartEye: The AI Surveillance System  </vt:lpstr>
      <vt:lpstr>Outline</vt:lpstr>
      <vt:lpstr>Problem Statement and Motivation</vt:lpstr>
      <vt:lpstr>Objectives</vt:lpstr>
      <vt:lpstr>Existing System</vt:lpstr>
      <vt:lpstr>Existing System</vt:lpstr>
      <vt:lpstr>Existing System</vt:lpstr>
      <vt:lpstr>Proposed System</vt:lpstr>
      <vt:lpstr>Proposed System</vt:lpstr>
      <vt:lpstr>System Architecture/Block Diagram</vt:lpstr>
      <vt:lpstr>Implementation</vt:lpstr>
      <vt:lpstr>Implementation</vt:lpstr>
      <vt:lpstr>Testing Approach</vt:lpstr>
      <vt:lpstr>Testing Approach</vt:lpstr>
      <vt:lpstr>Testing Approach</vt:lpstr>
      <vt:lpstr>Testing Approach</vt:lpstr>
      <vt:lpstr>Result Analysis and Discussions</vt:lpstr>
      <vt:lpstr>Result Analysis and Discussions</vt:lpstr>
      <vt:lpstr>Result Analysis and Discussions</vt:lpstr>
      <vt:lpstr>Result analysis</vt:lpstr>
      <vt:lpstr>Sustainable Development Goals(SDG)</vt:lpstr>
      <vt:lpstr>Live Demonstration</vt:lpstr>
      <vt:lpstr>Conclusion</vt:lpstr>
      <vt:lpstr>Future Scope</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Pre-Project Presentation Precision Brain Tumor Detection and Smart Report Generation Using Deep Learning Programme: B. Tech in CSE</dc:title>
  <dc:creator>Chandan</dc:creator>
  <cp:lastModifiedBy>Chandan Kumar</cp:lastModifiedBy>
  <cp:revision>53</cp:revision>
  <dcterms:created xsi:type="dcterms:W3CDTF">2014-10-09T06:35:03Z</dcterms:created>
  <dcterms:modified xsi:type="dcterms:W3CDTF">2026-03-16T15:03:12Z</dcterms:modified>
</cp:coreProperties>
</file>